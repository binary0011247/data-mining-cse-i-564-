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Zen Dots" charset="1" panose="00000000000000000000"/>
      <p:regular r:id="rId14"/>
    </p:embeddedFont>
    <p:embeddedFont>
      <p:font typeface="Poppins Bold" charset="1" panose="00000800000000000000"/>
      <p:regular r:id="rId15"/>
    </p:embeddedFont>
    <p:embeddedFont>
      <p:font typeface="Poppins" charset="1" panose="00000500000000000000"/>
      <p:regular r:id="rId16"/>
    </p:embeddedFont>
    <p:embeddedFont>
      <p:font typeface="Bugaki" charset="1" panose="00000000000000000000"/>
      <p:regular r:id="rId17"/>
    </p:embeddedFont>
    <p:embeddedFont>
      <p:font typeface="Source Sans 3" charset="1" panose="020B0303030403020204"/>
      <p:regular r:id="rId18"/>
    </p:embeddedFont>
    <p:embeddedFont>
      <p:font typeface="Garet Bold" charset="1" panose="00000000000000000000"/>
      <p:regular r:id="rId19"/>
    </p:embeddedFont>
    <p:embeddedFont>
      <p:font typeface="Garet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096" t="0" r="-14096" b="-5183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19FF">
                <a:alpha val="2078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833176" y="1898005"/>
            <a:ext cx="13132036" cy="2204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70"/>
              </a:lnSpc>
            </a:pPr>
            <a:r>
              <a:rPr lang="en-US" sz="9000">
                <a:solidFill>
                  <a:srgbClr val="FFFFFF"/>
                </a:solidFill>
                <a:latin typeface="Zen Dots"/>
                <a:ea typeface="Zen Dots"/>
                <a:cs typeface="Zen Dots"/>
                <a:sym typeface="Zen Dots"/>
              </a:rPr>
              <a:t>DATA MINING INTRODUCTION</a:t>
            </a:r>
          </a:p>
        </p:txBody>
      </p:sp>
      <p:sp>
        <p:nvSpPr>
          <p:cNvPr name="AutoShape 7" id="7"/>
          <p:cNvSpPr/>
          <p:nvPr/>
        </p:nvSpPr>
        <p:spPr>
          <a:xfrm>
            <a:off x="1028683" y="8732575"/>
            <a:ext cx="16230600" cy="1905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5762422" y="735562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020F8D"/>
                </a:solidFill>
                <a:latin typeface="Poppins Bold"/>
                <a:ea typeface="Poppins Bold"/>
                <a:cs typeface="Poppins Bold"/>
                <a:sym typeface="Poppins Bold"/>
              </a:rPr>
              <a:t>Page 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28202" y="9061735"/>
            <a:ext cx="1274721" cy="45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5127331" y="519270"/>
            <a:ext cx="2691471" cy="1150134"/>
          </a:xfrm>
          <a:custGeom>
            <a:avLst/>
            <a:gdLst/>
            <a:ahLst/>
            <a:cxnLst/>
            <a:rect r="r" b="b" t="t" l="l"/>
            <a:pathLst>
              <a:path h="1150134" w="2691471">
                <a:moveTo>
                  <a:pt x="0" y="0"/>
                </a:moveTo>
                <a:lnTo>
                  <a:pt x="2691472" y="0"/>
                </a:lnTo>
                <a:lnTo>
                  <a:pt x="2691472" y="1150135"/>
                </a:lnTo>
                <a:lnTo>
                  <a:pt x="0" y="11501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32066" y="6239824"/>
            <a:ext cx="5505665" cy="2662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0"/>
              </a:lnSpc>
              <a:spcBef>
                <a:spcPct val="0"/>
              </a:spcBef>
            </a:pPr>
            <a:r>
              <a:rPr lang="en-US" sz="3150" spc="-88">
                <a:solidFill>
                  <a:srgbClr val="FFFFFF"/>
                </a:solidFill>
                <a:latin typeface="Bugaki"/>
                <a:ea typeface="Bugaki"/>
                <a:cs typeface="Bugaki"/>
                <a:sym typeface="Bugaki"/>
              </a:rPr>
              <a:t>P</a:t>
            </a:r>
            <a:r>
              <a:rPr lang="en-US" sz="3150" spc="-88">
                <a:solidFill>
                  <a:srgbClr val="FFFFFF"/>
                </a:solidFill>
                <a:latin typeface="Bugaki"/>
                <a:ea typeface="Bugaki"/>
                <a:cs typeface="Bugaki"/>
                <a:sym typeface="Bugaki"/>
              </a:rPr>
              <a:t>resented to:</a:t>
            </a:r>
          </a:p>
          <a:p>
            <a:pPr algn="ctr">
              <a:lnSpc>
                <a:spcPts val="4190"/>
              </a:lnSpc>
              <a:spcBef>
                <a:spcPct val="0"/>
              </a:spcBef>
            </a:pPr>
            <a:r>
              <a:rPr lang="en-US" sz="3150" spc="-88">
                <a:solidFill>
                  <a:srgbClr val="FFFFFF"/>
                </a:solidFill>
                <a:latin typeface="Bugaki"/>
                <a:ea typeface="Bugaki"/>
                <a:cs typeface="Bugaki"/>
                <a:sym typeface="Bugaki"/>
              </a:rPr>
              <a:t>Dr.Anirudha Gaikawad</a:t>
            </a:r>
          </a:p>
          <a:p>
            <a:pPr algn="ctr">
              <a:lnSpc>
                <a:spcPts val="4190"/>
              </a:lnSpc>
              <a:spcBef>
                <a:spcPct val="0"/>
              </a:spcBef>
            </a:pPr>
            <a:r>
              <a:rPr lang="en-US" sz="3150" spc="-88">
                <a:solidFill>
                  <a:srgbClr val="FFFFFF"/>
                </a:solidFill>
                <a:latin typeface="Bugaki"/>
                <a:ea typeface="Bugaki"/>
                <a:cs typeface="Bugaki"/>
                <a:sym typeface="Bugaki"/>
              </a:rPr>
              <a:t>Assistant Professor</a:t>
            </a:r>
          </a:p>
          <a:p>
            <a:pPr algn="ctr">
              <a:lnSpc>
                <a:spcPts val="4190"/>
              </a:lnSpc>
              <a:spcBef>
                <a:spcPct val="0"/>
              </a:spcBef>
            </a:pPr>
            <a:r>
              <a:rPr lang="en-US" sz="3150" spc="-88">
                <a:solidFill>
                  <a:srgbClr val="FFFFFF"/>
                </a:solidFill>
                <a:latin typeface="Bugaki"/>
                <a:ea typeface="Bugaki"/>
                <a:cs typeface="Bugaki"/>
                <a:sym typeface="Bugaki"/>
              </a:rPr>
              <a:t>Dept. of CSE</a:t>
            </a:r>
          </a:p>
          <a:p>
            <a:pPr algn="ctr">
              <a:lnSpc>
                <a:spcPts val="419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1067000" y="6220774"/>
            <a:ext cx="5633921" cy="217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0"/>
              </a:lnSpc>
            </a:pPr>
            <a:r>
              <a:rPr lang="en-US" sz="3035" spc="315">
                <a:solidFill>
                  <a:srgbClr val="FFFFFF"/>
                </a:solidFill>
                <a:latin typeface="Bugaki"/>
                <a:ea typeface="Bugaki"/>
                <a:cs typeface="Bugaki"/>
                <a:sym typeface="Bugaki"/>
              </a:rPr>
              <a:t>Presented By:</a:t>
            </a:r>
          </a:p>
          <a:p>
            <a:pPr algn="ctr">
              <a:lnSpc>
                <a:spcPts val="4250"/>
              </a:lnSpc>
            </a:pPr>
            <a:r>
              <a:rPr lang="en-US" sz="3035" spc="315">
                <a:solidFill>
                  <a:srgbClr val="FFFFFF"/>
                </a:solidFill>
                <a:latin typeface="Bugaki"/>
                <a:ea typeface="Bugaki"/>
                <a:cs typeface="Bugaki"/>
                <a:sym typeface="Bugaki"/>
              </a:rPr>
              <a:t>Shubh Gupta</a:t>
            </a:r>
          </a:p>
          <a:p>
            <a:pPr algn="ctr">
              <a:lnSpc>
                <a:spcPts val="4250"/>
              </a:lnSpc>
            </a:pPr>
            <a:r>
              <a:rPr lang="en-US" sz="3035" spc="315">
                <a:solidFill>
                  <a:srgbClr val="FFFFFF"/>
                </a:solidFill>
                <a:latin typeface="Bugaki"/>
                <a:ea typeface="Bugaki"/>
                <a:cs typeface="Bugaki"/>
                <a:sym typeface="Bugaki"/>
              </a:rPr>
              <a:t>RA2311003030564</a:t>
            </a:r>
          </a:p>
          <a:p>
            <a:pPr algn="ctr">
              <a:lnSpc>
                <a:spcPts val="4250"/>
              </a:lnSpc>
              <a:spcBef>
                <a:spcPct val="0"/>
              </a:spcBef>
            </a:pPr>
            <a:r>
              <a:rPr lang="en-US" sz="3035" spc="315">
                <a:solidFill>
                  <a:srgbClr val="FFFFFF"/>
                </a:solidFill>
                <a:latin typeface="Bugaki"/>
                <a:ea typeface="Bugaki"/>
                <a:cs typeface="Bugaki"/>
                <a:sym typeface="Bugaki"/>
              </a:rPr>
              <a:t>CSE-Core 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640">
                <a:alpha val="100000"/>
              </a:srgbClr>
            </a:gs>
            <a:gs pos="100000">
              <a:srgbClr val="02007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0792" y="3064863"/>
            <a:ext cx="8494999" cy="3634095"/>
            <a:chOff x="0" y="0"/>
            <a:chExt cx="2237366" cy="957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37366" cy="957128"/>
            </a:xfrm>
            <a:custGeom>
              <a:avLst/>
              <a:gdLst/>
              <a:ahLst/>
              <a:cxnLst/>
              <a:rect r="r" b="b" t="t" l="l"/>
              <a:pathLst>
                <a:path h="957128" w="2237366">
                  <a:moveTo>
                    <a:pt x="0" y="0"/>
                  </a:moveTo>
                  <a:lnTo>
                    <a:pt x="2237366" y="0"/>
                  </a:lnTo>
                  <a:lnTo>
                    <a:pt x="2237366" y="957128"/>
                  </a:lnTo>
                  <a:lnTo>
                    <a:pt x="0" y="957128"/>
                  </a:lnTo>
                  <a:close/>
                </a:path>
              </a:pathLst>
            </a:custGeom>
            <a:gradFill rotWithShape="true">
              <a:gsLst>
                <a:gs pos="0">
                  <a:srgbClr val="00E8FF">
                    <a:alpha val="100000"/>
                  </a:srgbClr>
                </a:gs>
                <a:gs pos="100000">
                  <a:srgbClr val="0076E4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237366" cy="10142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33471" y="3371193"/>
            <a:ext cx="8249640" cy="2870359"/>
            <a:chOff x="0" y="0"/>
            <a:chExt cx="1278085" cy="44469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78085" cy="444694"/>
            </a:xfrm>
            <a:custGeom>
              <a:avLst/>
              <a:gdLst/>
              <a:ahLst/>
              <a:cxnLst/>
              <a:rect r="r" b="b" t="t" l="l"/>
              <a:pathLst>
                <a:path h="444694" w="1278085">
                  <a:moveTo>
                    <a:pt x="0" y="0"/>
                  </a:moveTo>
                  <a:lnTo>
                    <a:pt x="1278085" y="0"/>
                  </a:lnTo>
                  <a:lnTo>
                    <a:pt x="1278085" y="444694"/>
                  </a:lnTo>
                  <a:lnTo>
                    <a:pt x="0" y="444694"/>
                  </a:lnTo>
                  <a:close/>
                </a:path>
              </a:pathLst>
            </a:custGeom>
            <a:blipFill>
              <a:blip r:embed="rId2"/>
              <a:stretch>
                <a:fillRect l="0" t="-21851" r="0" b="-21851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8831280">
            <a:off x="-2149749" y="2740944"/>
            <a:ext cx="4001809" cy="4001809"/>
          </a:xfrm>
          <a:custGeom>
            <a:avLst/>
            <a:gdLst/>
            <a:ahLst/>
            <a:cxnLst/>
            <a:rect r="r" b="b" t="t" l="l"/>
            <a:pathLst>
              <a:path h="4001809" w="4001809">
                <a:moveTo>
                  <a:pt x="0" y="0"/>
                </a:moveTo>
                <a:lnTo>
                  <a:pt x="4001809" y="0"/>
                </a:lnTo>
                <a:lnTo>
                  <a:pt x="4001809" y="4001809"/>
                </a:lnTo>
                <a:lnTo>
                  <a:pt x="0" y="40018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1028683" y="9272587"/>
            <a:ext cx="16230600" cy="1905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-1886788">
            <a:off x="16349986" y="3775189"/>
            <a:ext cx="4464076" cy="4464076"/>
          </a:xfrm>
          <a:custGeom>
            <a:avLst/>
            <a:gdLst/>
            <a:ahLst/>
            <a:cxnLst/>
            <a:rect r="r" b="b" t="t" l="l"/>
            <a:pathLst>
              <a:path h="4464076" w="4464076">
                <a:moveTo>
                  <a:pt x="0" y="0"/>
                </a:moveTo>
                <a:lnTo>
                  <a:pt x="4464076" y="0"/>
                </a:lnTo>
                <a:lnTo>
                  <a:pt x="4464076" y="4464076"/>
                </a:lnTo>
                <a:lnTo>
                  <a:pt x="0" y="44640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905492" y="1053358"/>
            <a:ext cx="8188898" cy="1311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89"/>
              </a:lnSpc>
            </a:pPr>
            <a:r>
              <a:rPr lang="en-US" sz="5365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WHAT IS DATA MINING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356324" y="1803086"/>
            <a:ext cx="6827388" cy="6639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2"/>
              </a:lnSpc>
            </a:pPr>
            <a:r>
              <a:rPr lang="en-US" sz="2309" spc="-64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In today’s digital age, data is a critical asset. Effective data analysis enables organizations to identify trends, improve operations, and discover new opportunities. It bridges the gap between data collection and strategic implementation.</a:t>
            </a:r>
          </a:p>
          <a:p>
            <a:pPr algn="just">
              <a:lnSpc>
                <a:spcPts val="3072"/>
              </a:lnSpc>
            </a:pPr>
          </a:p>
          <a:p>
            <a:pPr algn="just" marL="498708" indent="-249354" lvl="1">
              <a:lnSpc>
                <a:spcPts val="3072"/>
              </a:lnSpc>
              <a:buFont typeface="Arial"/>
              <a:buChar char="•"/>
            </a:pPr>
            <a:r>
              <a:rPr lang="en-US" sz="2309" spc="-64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Data mining is a part of Knowledge Discovery in Databases (KDD)</a:t>
            </a:r>
          </a:p>
          <a:p>
            <a:pPr algn="just" marL="498708" indent="-249354" lvl="1">
              <a:lnSpc>
                <a:spcPts val="3072"/>
              </a:lnSpc>
              <a:buFont typeface="Arial"/>
              <a:buChar char="•"/>
            </a:pPr>
            <a:r>
              <a:rPr lang="en-US" sz="2309" spc="-64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It works on large datasets stored in databases, warehouses, or cloud storage</a:t>
            </a:r>
          </a:p>
          <a:p>
            <a:pPr algn="just" marL="498708" indent="-249354" lvl="1">
              <a:lnSpc>
                <a:spcPts val="3072"/>
              </a:lnSpc>
              <a:buFont typeface="Arial"/>
              <a:buChar char="•"/>
            </a:pPr>
            <a:r>
              <a:rPr lang="en-US" sz="2309" spc="-64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Main goal is to find patterns that are not easily visible.</a:t>
            </a:r>
          </a:p>
          <a:p>
            <a:pPr algn="just">
              <a:lnSpc>
                <a:spcPts val="3072"/>
              </a:lnSpc>
            </a:pPr>
          </a:p>
          <a:p>
            <a:pPr algn="just">
              <a:lnSpc>
                <a:spcPts val="3331"/>
              </a:lnSpc>
            </a:pPr>
            <a:r>
              <a:rPr lang="en-US" sz="2504" spc="-7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Real-Life Examples</a:t>
            </a:r>
          </a:p>
          <a:p>
            <a:pPr algn="just">
              <a:lnSpc>
                <a:spcPts val="3072"/>
              </a:lnSpc>
            </a:pPr>
          </a:p>
          <a:p>
            <a:pPr algn="just" marL="498708" indent="-249354" lvl="1">
              <a:lnSpc>
                <a:spcPts val="3072"/>
              </a:lnSpc>
              <a:buFont typeface="Arial"/>
              <a:buChar char="•"/>
            </a:pPr>
            <a:r>
              <a:rPr lang="en-US" sz="2309" spc="-64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E-commerce (Amazon/Flipkart): Product recommendations</a:t>
            </a:r>
          </a:p>
          <a:p>
            <a:pPr algn="just" marL="498708" indent="-249354" lvl="1">
              <a:lnSpc>
                <a:spcPts val="3072"/>
              </a:lnSpc>
              <a:buFont typeface="Arial"/>
              <a:buChar char="•"/>
            </a:pPr>
            <a:r>
              <a:rPr lang="en-US" sz="2309" spc="-64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Banking: Fraud detection and credit risk analysis</a:t>
            </a:r>
          </a:p>
          <a:p>
            <a:pPr algn="just">
              <a:lnSpc>
                <a:spcPts val="3072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20070">
                <a:alpha val="100000"/>
              </a:srgbClr>
            </a:gs>
            <a:gs pos="100000">
              <a:srgbClr val="00064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29337" y="608414"/>
            <a:ext cx="9059733" cy="754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86"/>
              </a:lnSpc>
            </a:pPr>
            <a:r>
              <a:rPr lang="en-US" sz="5899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TYPES OF DATA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936701" y="1566047"/>
            <a:ext cx="3788272" cy="495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56"/>
              </a:lnSpc>
            </a:pPr>
            <a:r>
              <a:rPr lang="en-US" b="true" sz="2899" spc="-81">
                <a:solidFill>
                  <a:srgbClr val="00FFFF"/>
                </a:solidFill>
                <a:latin typeface="Poppins Bold"/>
                <a:ea typeface="Poppins Bold"/>
                <a:cs typeface="Poppins Bold"/>
                <a:sym typeface="Poppins Bold"/>
              </a:rPr>
              <a:t>Based on Structure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71991" y="2207507"/>
            <a:ext cx="4518820" cy="2646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12"/>
              </a:lnSpc>
            </a:pPr>
            <a:r>
              <a:rPr lang="en-US" b="true" sz="1889" spc="-52">
                <a:solidFill>
                  <a:srgbClr val="00FFFF"/>
                </a:solidFill>
                <a:latin typeface="Poppins Bold"/>
                <a:ea typeface="Poppins Bold"/>
                <a:cs typeface="Poppins Bold"/>
                <a:sym typeface="Poppins Bold"/>
              </a:rPr>
              <a:t>(A) Structured Data:</a:t>
            </a:r>
          </a:p>
          <a:p>
            <a:pPr algn="just">
              <a:lnSpc>
                <a:spcPts val="2294"/>
              </a:lnSpc>
            </a:pPr>
          </a:p>
          <a:p>
            <a:pPr algn="just">
              <a:lnSpc>
                <a:spcPts val="2294"/>
              </a:lnSpc>
            </a:pPr>
            <a:r>
              <a:rPr lang="en-US" sz="1724" spc="-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stored in a fixed format (rows &amp; columns).</a:t>
            </a:r>
          </a:p>
          <a:p>
            <a:pPr algn="just">
              <a:lnSpc>
                <a:spcPts val="2294"/>
              </a:lnSpc>
            </a:pPr>
          </a:p>
          <a:p>
            <a:pPr algn="just">
              <a:lnSpc>
                <a:spcPts val="2294"/>
              </a:lnSpc>
            </a:pPr>
            <a:r>
              <a:rPr lang="en-US" sz="1724" spc="-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Examples:</a:t>
            </a:r>
          </a:p>
          <a:p>
            <a:pPr algn="just" marL="372403" indent="-186202" lvl="1">
              <a:lnSpc>
                <a:spcPts val="2294"/>
              </a:lnSpc>
              <a:buFont typeface="Arial"/>
              <a:buChar char="•"/>
            </a:pPr>
            <a:r>
              <a:rPr lang="en-US" sz="1724" spc="-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Student records (Roll No, Name, Marks)</a:t>
            </a:r>
          </a:p>
          <a:p>
            <a:pPr algn="just" marL="372403" indent="-186202" lvl="1">
              <a:lnSpc>
                <a:spcPts val="2294"/>
              </a:lnSpc>
              <a:buFont typeface="Arial"/>
              <a:buChar char="•"/>
            </a:pPr>
            <a:r>
              <a:rPr lang="en-US" sz="1724" spc="-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Bank transaction table</a:t>
            </a:r>
          </a:p>
          <a:p>
            <a:pPr algn="just">
              <a:lnSpc>
                <a:spcPts val="2294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461378" y="4815927"/>
            <a:ext cx="4629432" cy="261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74"/>
              </a:lnSpc>
            </a:pPr>
            <a:r>
              <a:rPr lang="en-US" b="true" sz="1935" spc="-54">
                <a:solidFill>
                  <a:srgbClr val="00FFFF"/>
                </a:solidFill>
                <a:latin typeface="Poppins Bold"/>
                <a:ea typeface="Poppins Bold"/>
                <a:cs typeface="Poppins Bold"/>
                <a:sym typeface="Poppins Bold"/>
              </a:rPr>
              <a:t>(b)Semi-Structured Data:</a:t>
            </a:r>
          </a:p>
          <a:p>
            <a:pPr algn="just">
              <a:lnSpc>
                <a:spcPts val="2574"/>
              </a:lnSpc>
            </a:pPr>
          </a:p>
          <a:p>
            <a:pPr algn="just">
              <a:lnSpc>
                <a:spcPts val="2238"/>
              </a:lnSpc>
            </a:pPr>
            <a:r>
              <a:rPr lang="en-US" sz="1683" spc="-4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does not follow a strict table format but still has some structure.</a:t>
            </a:r>
          </a:p>
          <a:p>
            <a:pPr algn="just">
              <a:lnSpc>
                <a:spcPts val="2238"/>
              </a:lnSpc>
            </a:pPr>
          </a:p>
          <a:p>
            <a:pPr algn="just">
              <a:lnSpc>
                <a:spcPts val="2238"/>
              </a:lnSpc>
            </a:pPr>
            <a:r>
              <a:rPr lang="en-US" sz="1683" spc="-4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Examples:</a:t>
            </a:r>
          </a:p>
          <a:p>
            <a:pPr algn="just" marL="363399" indent="-181700" lvl="1">
              <a:lnSpc>
                <a:spcPts val="2238"/>
              </a:lnSpc>
              <a:buFont typeface="Arial"/>
              <a:buChar char="•"/>
            </a:pPr>
            <a:r>
              <a:rPr lang="en-US" sz="1683" spc="-4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XML files</a:t>
            </a:r>
          </a:p>
          <a:p>
            <a:pPr algn="just" marL="363399" indent="-181700" lvl="1">
              <a:lnSpc>
                <a:spcPts val="2238"/>
              </a:lnSpc>
              <a:buFont typeface="Arial"/>
              <a:buChar char="•"/>
            </a:pPr>
            <a:r>
              <a:rPr lang="en-US" sz="1683" spc="-4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JSON data</a:t>
            </a:r>
          </a:p>
          <a:p>
            <a:pPr algn="just">
              <a:lnSpc>
                <a:spcPts val="2238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461378" y="7677052"/>
            <a:ext cx="4629432" cy="2399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83"/>
              </a:lnSpc>
            </a:pPr>
            <a:r>
              <a:rPr lang="en-US" b="true" sz="2168" spc="-60">
                <a:solidFill>
                  <a:srgbClr val="00FFFF"/>
                </a:solidFill>
                <a:latin typeface="Poppins Bold"/>
                <a:ea typeface="Poppins Bold"/>
                <a:cs typeface="Poppins Bold"/>
                <a:sym typeface="Poppins Bold"/>
              </a:rPr>
              <a:t>C) Unstructured Data</a:t>
            </a:r>
          </a:p>
          <a:p>
            <a:pPr algn="just">
              <a:lnSpc>
                <a:spcPts val="2025"/>
              </a:lnSpc>
            </a:pPr>
          </a:p>
          <a:p>
            <a:pPr algn="just">
              <a:lnSpc>
                <a:spcPts val="2025"/>
              </a:lnSpc>
            </a:pPr>
            <a:r>
              <a:rPr lang="en-US" sz="1522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that has no fixed structure.</a:t>
            </a:r>
          </a:p>
          <a:p>
            <a:pPr algn="just">
              <a:lnSpc>
                <a:spcPts val="2025"/>
              </a:lnSpc>
            </a:pPr>
          </a:p>
          <a:p>
            <a:pPr algn="just">
              <a:lnSpc>
                <a:spcPts val="2025"/>
              </a:lnSpc>
            </a:pPr>
            <a:r>
              <a:rPr lang="en-US" sz="1522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Examples:</a:t>
            </a:r>
          </a:p>
          <a:p>
            <a:pPr algn="just" marL="328813" indent="-164407" lvl="1">
              <a:lnSpc>
                <a:spcPts val="2025"/>
              </a:lnSpc>
              <a:buFont typeface="Arial"/>
              <a:buChar char="•"/>
            </a:pPr>
            <a:r>
              <a:rPr lang="en-US" sz="1522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Images</a:t>
            </a:r>
          </a:p>
          <a:p>
            <a:pPr algn="just" marL="328813" indent="-164407" lvl="1">
              <a:lnSpc>
                <a:spcPts val="2025"/>
              </a:lnSpc>
              <a:buFont typeface="Arial"/>
              <a:buChar char="•"/>
            </a:pPr>
            <a:r>
              <a:rPr lang="en-US" sz="1522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Vi</a:t>
            </a:r>
            <a:r>
              <a:rPr lang="en-US" sz="1522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deos</a:t>
            </a:r>
          </a:p>
          <a:p>
            <a:pPr algn="just">
              <a:lnSpc>
                <a:spcPts val="1929"/>
              </a:lnSpc>
            </a:pPr>
          </a:p>
          <a:p>
            <a:pPr algn="just">
              <a:lnSpc>
                <a:spcPts val="192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7032049" y="1464811"/>
            <a:ext cx="4550999" cy="495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56"/>
              </a:lnSpc>
            </a:pPr>
            <a:r>
              <a:rPr lang="en-US" b="true" sz="2899" spc="-81">
                <a:solidFill>
                  <a:srgbClr val="00FFFF"/>
                </a:solidFill>
                <a:latin typeface="Poppins Bold"/>
                <a:ea typeface="Poppins Bold"/>
                <a:cs typeface="Poppins Bold"/>
                <a:sym typeface="Poppins Bold"/>
              </a:rPr>
              <a:t>Based on Data Source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84590" y="2217032"/>
            <a:ext cx="4353483" cy="1731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28"/>
              </a:lnSpc>
            </a:pPr>
            <a:r>
              <a:rPr lang="en-US" b="true" sz="1750" spc="-49">
                <a:solidFill>
                  <a:srgbClr val="00FFFF"/>
                </a:solidFill>
                <a:latin typeface="Poppins Bold"/>
                <a:ea typeface="Poppins Bold"/>
                <a:cs typeface="Poppins Bold"/>
                <a:sym typeface="Poppins Bold"/>
              </a:rPr>
              <a:t>(A) Database </a:t>
            </a:r>
            <a:r>
              <a:rPr lang="en-US" b="true" sz="1750" spc="-49">
                <a:solidFill>
                  <a:srgbClr val="00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</a:t>
            </a:r>
          </a:p>
          <a:p>
            <a:pPr algn="just">
              <a:lnSpc>
                <a:spcPts val="2328"/>
              </a:lnSpc>
            </a:pPr>
          </a:p>
          <a:p>
            <a:pPr algn="just">
              <a:lnSpc>
                <a:spcPts val="2328"/>
              </a:lnSpc>
            </a:pPr>
            <a:r>
              <a:rPr lang="en-US" sz="1750" spc="-4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Stored in relational databases.</a:t>
            </a:r>
          </a:p>
          <a:p>
            <a:pPr algn="just">
              <a:lnSpc>
                <a:spcPts val="2328"/>
              </a:lnSpc>
            </a:pPr>
          </a:p>
          <a:p>
            <a:pPr algn="just">
              <a:lnSpc>
                <a:spcPts val="2328"/>
              </a:lnSpc>
            </a:pPr>
            <a:r>
              <a:rPr lang="en-US" sz="1750" spc="-4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Example: Tables in MySQL</a:t>
            </a:r>
          </a:p>
          <a:p>
            <a:pPr algn="just">
              <a:lnSpc>
                <a:spcPts val="2125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6884590" y="4044573"/>
            <a:ext cx="3890983" cy="163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17"/>
              </a:lnSpc>
            </a:pPr>
            <a:r>
              <a:rPr lang="en-US" b="true" sz="1817" spc="-50">
                <a:solidFill>
                  <a:srgbClr val="00FFFF"/>
                </a:solidFill>
                <a:latin typeface="Poppins Bold"/>
                <a:ea typeface="Poppins Bold"/>
                <a:cs typeface="Poppins Bold"/>
                <a:sym typeface="Poppins Bold"/>
              </a:rPr>
              <a:t>B) Transactional Data</a:t>
            </a:r>
          </a:p>
          <a:p>
            <a:pPr algn="just">
              <a:lnSpc>
                <a:spcPts val="2163"/>
              </a:lnSpc>
            </a:pPr>
          </a:p>
          <a:p>
            <a:pPr algn="just">
              <a:lnSpc>
                <a:spcPts val="2163"/>
              </a:lnSpc>
            </a:pPr>
            <a:r>
              <a:rPr lang="en-US" sz="1626" spc="-4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1626" spc="-4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ata generated from daily activities.</a:t>
            </a:r>
          </a:p>
          <a:p>
            <a:pPr algn="just">
              <a:lnSpc>
                <a:spcPts val="2163"/>
              </a:lnSpc>
            </a:pPr>
          </a:p>
          <a:p>
            <a:pPr algn="just">
              <a:lnSpc>
                <a:spcPts val="2163"/>
              </a:lnSpc>
            </a:pPr>
            <a:r>
              <a:rPr lang="en-US" sz="1626" spc="-4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Example: ATM transactions</a:t>
            </a:r>
          </a:p>
          <a:p>
            <a:pPr algn="just">
              <a:lnSpc>
                <a:spcPts val="1881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884590" y="5917809"/>
            <a:ext cx="4041655" cy="1974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14"/>
              </a:lnSpc>
            </a:pPr>
            <a:r>
              <a:rPr lang="en-US" b="true" sz="1665" spc="-46">
                <a:solidFill>
                  <a:srgbClr val="00FFFF"/>
                </a:solidFill>
                <a:latin typeface="Poppins Bold"/>
                <a:ea typeface="Poppins Bold"/>
                <a:cs typeface="Poppins Bold"/>
                <a:sym typeface="Poppins Bold"/>
              </a:rPr>
              <a:t>(C) Data Warehouse Data</a:t>
            </a:r>
          </a:p>
          <a:p>
            <a:pPr algn="just">
              <a:lnSpc>
                <a:spcPts val="2010"/>
              </a:lnSpc>
            </a:pPr>
          </a:p>
          <a:p>
            <a:pPr algn="just">
              <a:lnSpc>
                <a:spcPts val="2010"/>
              </a:lnSpc>
            </a:pPr>
            <a:r>
              <a:rPr lang="en-US" sz="1511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1511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arge historical data stored for analysis and reporting.</a:t>
            </a:r>
          </a:p>
          <a:p>
            <a:pPr algn="just">
              <a:lnSpc>
                <a:spcPts val="2010"/>
              </a:lnSpc>
            </a:pPr>
          </a:p>
          <a:p>
            <a:pPr algn="just">
              <a:lnSpc>
                <a:spcPts val="2010"/>
              </a:lnSpc>
            </a:pPr>
            <a:r>
              <a:rPr lang="en-US" sz="1511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Example: Company sales reports over 10 years</a:t>
            </a:r>
          </a:p>
          <a:p>
            <a:pPr algn="just">
              <a:lnSpc>
                <a:spcPts val="1561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6884590" y="7854475"/>
            <a:ext cx="3890983" cy="2459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17"/>
              </a:lnSpc>
            </a:pPr>
            <a:r>
              <a:rPr lang="en-US" b="true" sz="1817" spc="-50">
                <a:solidFill>
                  <a:srgbClr val="00FFFF"/>
                </a:solidFill>
                <a:latin typeface="Poppins Bold"/>
                <a:ea typeface="Poppins Bold"/>
                <a:cs typeface="Poppins Bold"/>
                <a:sym typeface="Poppins Bold"/>
              </a:rPr>
              <a:t>(D) Web Data</a:t>
            </a:r>
          </a:p>
          <a:p>
            <a:pPr algn="just">
              <a:lnSpc>
                <a:spcPts val="2151"/>
              </a:lnSpc>
            </a:pPr>
          </a:p>
          <a:p>
            <a:pPr algn="just">
              <a:lnSpc>
                <a:spcPts val="2151"/>
              </a:lnSpc>
            </a:pPr>
            <a:r>
              <a:rPr lang="en-US" sz="1617" spc="-4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1617" spc="-4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ata from websites and social media.</a:t>
            </a:r>
          </a:p>
          <a:p>
            <a:pPr algn="just">
              <a:lnSpc>
                <a:spcPts val="2151"/>
              </a:lnSpc>
            </a:pPr>
          </a:p>
          <a:p>
            <a:pPr algn="just">
              <a:lnSpc>
                <a:spcPts val="2284"/>
              </a:lnSpc>
            </a:pPr>
            <a:r>
              <a:rPr lang="en-US" sz="1717" spc="-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Example:</a:t>
            </a:r>
          </a:p>
          <a:p>
            <a:pPr algn="just" marL="370867" indent="-185433" lvl="1">
              <a:lnSpc>
                <a:spcPts val="2284"/>
              </a:lnSpc>
              <a:buFont typeface="Arial"/>
              <a:buChar char="•"/>
            </a:pPr>
            <a:r>
              <a:rPr lang="en-US" sz="1717" spc="-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Website</a:t>
            </a:r>
            <a:r>
              <a:rPr lang="en-US" sz="1717" spc="-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clicks</a:t>
            </a:r>
          </a:p>
          <a:p>
            <a:pPr algn="just">
              <a:lnSpc>
                <a:spcPts val="2163"/>
              </a:lnSpc>
            </a:pPr>
          </a:p>
          <a:p>
            <a:pPr algn="just">
              <a:lnSpc>
                <a:spcPts val="2163"/>
              </a:lnSpc>
            </a:pPr>
          </a:p>
          <a:p>
            <a:pPr algn="just">
              <a:lnSpc>
                <a:spcPts val="1881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2325999" y="1464811"/>
            <a:ext cx="4550999" cy="495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56"/>
              </a:lnSpc>
            </a:pPr>
            <a:r>
              <a:rPr lang="en-US" b="true" sz="2899" spc="-81">
                <a:solidFill>
                  <a:srgbClr val="00FFFF"/>
                </a:solidFill>
                <a:latin typeface="Poppins Bold"/>
                <a:ea typeface="Poppins Bold"/>
                <a:cs typeface="Poppins Bold"/>
                <a:sym typeface="Poppins Bold"/>
              </a:rPr>
              <a:t>Based on Attribute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424757" y="2217032"/>
            <a:ext cx="4758956" cy="1753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28"/>
              </a:lnSpc>
            </a:pPr>
            <a:r>
              <a:rPr lang="en-US" b="true" sz="1750" spc="-49">
                <a:solidFill>
                  <a:srgbClr val="00FFFF"/>
                </a:solidFill>
                <a:latin typeface="Poppins Bold"/>
                <a:ea typeface="Poppins Bold"/>
                <a:cs typeface="Poppins Bold"/>
                <a:sym typeface="Poppins Bold"/>
              </a:rPr>
              <a:t>(A) Nominal </a:t>
            </a:r>
            <a:r>
              <a:rPr lang="en-US" b="true" sz="1750" spc="-49">
                <a:solidFill>
                  <a:srgbClr val="00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</a:t>
            </a:r>
          </a:p>
          <a:p>
            <a:pPr algn="just">
              <a:lnSpc>
                <a:spcPts val="2328"/>
              </a:lnSpc>
            </a:pPr>
          </a:p>
          <a:p>
            <a:pPr algn="just">
              <a:lnSpc>
                <a:spcPts val="2328"/>
              </a:lnSpc>
            </a:pPr>
            <a:r>
              <a:rPr lang="en-US" sz="1750" spc="-4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</a:t>
            </a:r>
            <a:r>
              <a:rPr lang="en-US" sz="1750" spc="-4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tegorical data without order.</a:t>
            </a:r>
          </a:p>
          <a:p>
            <a:pPr algn="just">
              <a:lnSpc>
                <a:spcPts val="2328"/>
              </a:lnSpc>
            </a:pPr>
          </a:p>
          <a:p>
            <a:pPr algn="just">
              <a:lnSpc>
                <a:spcPts val="2328"/>
              </a:lnSpc>
            </a:pPr>
            <a:r>
              <a:rPr lang="en-US" sz="1750" spc="-4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1750" spc="-4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xample::-Gender (Male/Female)</a:t>
            </a:r>
          </a:p>
          <a:p>
            <a:pPr algn="just">
              <a:lnSpc>
                <a:spcPts val="2125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2325999" y="4227735"/>
            <a:ext cx="4550999" cy="1753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28"/>
              </a:lnSpc>
            </a:pPr>
            <a:r>
              <a:rPr lang="en-US" b="true" sz="1750" spc="-49">
                <a:solidFill>
                  <a:srgbClr val="00FFFF"/>
                </a:solidFill>
                <a:latin typeface="Poppins Bold"/>
                <a:ea typeface="Poppins Bold"/>
                <a:cs typeface="Poppins Bold"/>
                <a:sym typeface="Poppins Bold"/>
              </a:rPr>
              <a:t>(B) Ordinal </a:t>
            </a:r>
            <a:r>
              <a:rPr lang="en-US" b="true" sz="1750" spc="-49">
                <a:solidFill>
                  <a:srgbClr val="00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</a:t>
            </a:r>
          </a:p>
          <a:p>
            <a:pPr algn="just">
              <a:lnSpc>
                <a:spcPts val="2328"/>
              </a:lnSpc>
            </a:pPr>
          </a:p>
          <a:p>
            <a:pPr algn="just">
              <a:lnSpc>
                <a:spcPts val="2328"/>
              </a:lnSpc>
            </a:pPr>
            <a:r>
              <a:rPr lang="en-US" sz="1750" spc="-4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</a:t>
            </a:r>
            <a:r>
              <a:rPr lang="en-US" sz="1750" spc="-4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tegorical data with order or ranking</a:t>
            </a:r>
          </a:p>
          <a:p>
            <a:pPr algn="just">
              <a:lnSpc>
                <a:spcPts val="2328"/>
              </a:lnSpc>
            </a:pPr>
            <a:r>
              <a:rPr lang="en-US" sz="1750" spc="-4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just">
              <a:lnSpc>
                <a:spcPts val="2328"/>
              </a:lnSpc>
            </a:pPr>
            <a:r>
              <a:rPr lang="en-US" sz="1750" spc="-4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1750" spc="-4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xample::-</a:t>
            </a:r>
            <a:r>
              <a:rPr lang="en-US" sz="1750" spc="-4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Stud</a:t>
            </a:r>
            <a:r>
              <a:rPr lang="en-US" sz="1750" spc="-4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ent Grades (A, B, C)</a:t>
            </a:r>
          </a:p>
          <a:p>
            <a:pPr algn="just">
              <a:lnSpc>
                <a:spcPts val="2125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2325999" y="5943163"/>
            <a:ext cx="4550999" cy="2025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06"/>
              </a:lnSpc>
            </a:pPr>
            <a:r>
              <a:rPr lang="en-US" b="true" sz="1508" spc="-42">
                <a:solidFill>
                  <a:srgbClr val="00FFFF"/>
                </a:solidFill>
                <a:latin typeface="Poppins Bold"/>
                <a:ea typeface="Poppins Bold"/>
                <a:cs typeface="Poppins Bold"/>
                <a:sym typeface="Poppins Bold"/>
              </a:rPr>
              <a:t>(C) Interval </a:t>
            </a:r>
            <a:r>
              <a:rPr lang="en-US" b="true" sz="1508" spc="-42">
                <a:solidFill>
                  <a:srgbClr val="00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</a:t>
            </a:r>
          </a:p>
          <a:p>
            <a:pPr algn="just">
              <a:lnSpc>
                <a:spcPts val="2006"/>
              </a:lnSpc>
            </a:pPr>
          </a:p>
          <a:p>
            <a:pPr algn="just">
              <a:lnSpc>
                <a:spcPts val="2006"/>
              </a:lnSpc>
            </a:pPr>
            <a:r>
              <a:rPr lang="en-US" sz="1508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Num</a:t>
            </a:r>
            <a:r>
              <a:rPr lang="en-US" sz="1508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erical data where difference matters but no true zero.</a:t>
            </a:r>
          </a:p>
          <a:p>
            <a:pPr algn="just">
              <a:lnSpc>
                <a:spcPts val="2006"/>
              </a:lnSpc>
            </a:pPr>
          </a:p>
          <a:p>
            <a:pPr algn="just">
              <a:lnSpc>
                <a:spcPts val="2006"/>
              </a:lnSpc>
            </a:pPr>
            <a:r>
              <a:rPr lang="en-US" sz="1508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</a:t>
            </a:r>
            <a:r>
              <a:rPr lang="en-US" sz="1508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xample::-</a:t>
            </a:r>
            <a:r>
              <a:rPr lang="en-US" sz="1508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Temperatur</a:t>
            </a:r>
            <a:r>
              <a:rPr lang="en-US" sz="1508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 in Celsius (0°C is not absence of temperature)</a:t>
            </a:r>
          </a:p>
          <a:p>
            <a:pPr algn="just">
              <a:lnSpc>
                <a:spcPts val="1831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2325999" y="8090523"/>
            <a:ext cx="4857714" cy="2142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20"/>
              </a:lnSpc>
            </a:pPr>
            <a:r>
              <a:rPr lang="en-US" b="true" sz="1744" spc="-48">
                <a:solidFill>
                  <a:srgbClr val="00FFFF"/>
                </a:solidFill>
                <a:latin typeface="Poppins Bold"/>
                <a:ea typeface="Poppins Bold"/>
                <a:cs typeface="Poppins Bold"/>
                <a:sym typeface="Poppins Bold"/>
              </a:rPr>
              <a:t>D) Ratio Data</a:t>
            </a:r>
          </a:p>
          <a:p>
            <a:pPr algn="just">
              <a:lnSpc>
                <a:spcPts val="2193"/>
              </a:lnSpc>
            </a:pPr>
          </a:p>
          <a:p>
            <a:pPr algn="just">
              <a:lnSpc>
                <a:spcPts val="2193"/>
              </a:lnSpc>
            </a:pPr>
            <a:r>
              <a:rPr lang="en-US" sz="1648" spc="-4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Numerical d</a:t>
            </a:r>
            <a:r>
              <a:rPr lang="en-US" sz="1648" spc="-4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ata with a true zero.</a:t>
            </a:r>
          </a:p>
          <a:p>
            <a:pPr algn="just">
              <a:lnSpc>
                <a:spcPts val="2193"/>
              </a:lnSpc>
            </a:pPr>
          </a:p>
          <a:p>
            <a:pPr algn="just">
              <a:lnSpc>
                <a:spcPts val="2193"/>
              </a:lnSpc>
            </a:pPr>
            <a:r>
              <a:rPr lang="en-US" sz="1648" spc="-4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Example::-Height, Weight</a:t>
            </a:r>
          </a:p>
          <a:p>
            <a:pPr algn="just">
              <a:lnSpc>
                <a:spcPts val="2077"/>
              </a:lnSpc>
            </a:pPr>
          </a:p>
          <a:p>
            <a:pPr algn="just">
              <a:lnSpc>
                <a:spcPts val="2077"/>
              </a:lnSpc>
            </a:pPr>
          </a:p>
          <a:p>
            <a:pPr algn="just">
              <a:lnSpc>
                <a:spcPts val="1806"/>
              </a:lnSpc>
            </a:pPr>
          </a:p>
        </p:txBody>
      </p:sp>
      <p:sp>
        <p:nvSpPr>
          <p:cNvPr name="AutoShape 17" id="17"/>
          <p:cNvSpPr/>
          <p:nvPr/>
        </p:nvSpPr>
        <p:spPr>
          <a:xfrm flipH="true">
            <a:off x="6340217" y="1623197"/>
            <a:ext cx="147484" cy="8101556"/>
          </a:xfrm>
          <a:prstGeom prst="line">
            <a:avLst/>
          </a:prstGeom>
          <a:ln cap="flat" w="762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1782036" y="1521961"/>
            <a:ext cx="0" cy="8202792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20070">
                <a:alpha val="100000"/>
              </a:srgbClr>
            </a:gs>
            <a:gs pos="100000">
              <a:srgbClr val="00064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11" y="9475378"/>
            <a:ext cx="16230600" cy="1905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3306817" y="1295381"/>
            <a:ext cx="4335517" cy="4114800"/>
          </a:xfrm>
          <a:custGeom>
            <a:avLst/>
            <a:gdLst/>
            <a:ahLst/>
            <a:cxnLst/>
            <a:rect r="r" b="b" t="t" l="l"/>
            <a:pathLst>
              <a:path h="4114800" w="4335517">
                <a:moveTo>
                  <a:pt x="0" y="0"/>
                </a:moveTo>
                <a:lnTo>
                  <a:pt x="4335517" y="0"/>
                </a:lnTo>
                <a:lnTo>
                  <a:pt x="43355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41182" y="926062"/>
            <a:ext cx="11193882" cy="1311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89"/>
              </a:lnSpc>
            </a:pPr>
            <a:r>
              <a:rPr lang="en-US" sz="5365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MAJOR DATA MINING FUNCTIONALITIES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10772" y="2793854"/>
            <a:ext cx="4354240" cy="3195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34"/>
              </a:lnSpc>
            </a:pPr>
            <a:r>
              <a:rPr lang="en-US" b="true" sz="1905" spc="-53">
                <a:solidFill>
                  <a:srgbClr val="00FFFF"/>
                </a:solidFill>
                <a:latin typeface="Poppins Bold"/>
                <a:ea typeface="Poppins Bold"/>
                <a:cs typeface="Poppins Bold"/>
                <a:sym typeface="Poppins Bold"/>
              </a:rPr>
              <a:t>1. Classification</a:t>
            </a:r>
          </a:p>
          <a:p>
            <a:pPr algn="just">
              <a:lnSpc>
                <a:spcPts val="2276"/>
              </a:lnSpc>
            </a:pPr>
          </a:p>
          <a:p>
            <a:pPr algn="just">
              <a:lnSpc>
                <a:spcPts val="2276"/>
              </a:lnSpc>
            </a:pPr>
            <a:r>
              <a:rPr lang="en-US" sz="1711" spc="-4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Classification is a supervised learning technique where data is categorized into predefined classes.</a:t>
            </a:r>
          </a:p>
          <a:p>
            <a:pPr algn="just">
              <a:lnSpc>
                <a:spcPts val="2276"/>
              </a:lnSpc>
            </a:pPr>
          </a:p>
          <a:p>
            <a:pPr algn="just">
              <a:lnSpc>
                <a:spcPts val="2276"/>
              </a:lnSpc>
            </a:pPr>
            <a:r>
              <a:rPr lang="en-US" sz="1711" spc="-4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Example</a:t>
            </a:r>
          </a:p>
          <a:p>
            <a:pPr algn="just" marL="369552" indent="-184776" lvl="1">
              <a:lnSpc>
                <a:spcPts val="2276"/>
              </a:lnSpc>
              <a:buFont typeface="Arial"/>
              <a:buChar char="•"/>
            </a:pPr>
            <a:r>
              <a:rPr lang="en-US" sz="1711" spc="-4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Email → Spam / Not Spam</a:t>
            </a:r>
          </a:p>
          <a:p>
            <a:pPr algn="just" marL="369552" indent="-184776" lvl="1">
              <a:lnSpc>
                <a:spcPts val="2276"/>
              </a:lnSpc>
              <a:buFont typeface="Arial"/>
              <a:buChar char="•"/>
            </a:pPr>
            <a:r>
              <a:rPr lang="en-US" sz="1711" spc="-4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Student → Pass / Fail</a:t>
            </a:r>
          </a:p>
          <a:p>
            <a:pPr algn="just">
              <a:lnSpc>
                <a:spcPts val="2276"/>
              </a:lnSpc>
            </a:pPr>
            <a:r>
              <a:rPr lang="en-US" sz="1711" spc="-4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✔ Output is a class label.</a:t>
            </a:r>
          </a:p>
          <a:p>
            <a:pPr algn="just">
              <a:lnSpc>
                <a:spcPts val="2276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6374587" y="2803379"/>
            <a:ext cx="4927624" cy="3186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58"/>
              </a:lnSpc>
            </a:pPr>
            <a:r>
              <a:rPr lang="en-US" b="true" sz="1923" spc="-53">
                <a:solidFill>
                  <a:srgbClr val="00FFFF"/>
                </a:solidFill>
                <a:latin typeface="Poppins Bold"/>
                <a:ea typeface="Poppins Bold"/>
                <a:cs typeface="Poppins Bold"/>
                <a:sym typeface="Poppins Bold"/>
              </a:rPr>
              <a:t>2. Regression</a:t>
            </a:r>
          </a:p>
          <a:p>
            <a:pPr algn="just">
              <a:lnSpc>
                <a:spcPts val="2429"/>
              </a:lnSpc>
            </a:pPr>
          </a:p>
          <a:p>
            <a:pPr algn="just">
              <a:lnSpc>
                <a:spcPts val="2292"/>
              </a:lnSpc>
            </a:pPr>
            <a:r>
              <a:rPr lang="en-US" sz="1723" spc="-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Regre</a:t>
            </a:r>
            <a:r>
              <a:rPr lang="en-US" sz="1723" spc="-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ssion is used to predict a continuous numerical value.</a:t>
            </a:r>
          </a:p>
          <a:p>
            <a:pPr algn="just">
              <a:lnSpc>
                <a:spcPts val="2292"/>
              </a:lnSpc>
            </a:pPr>
          </a:p>
          <a:p>
            <a:pPr algn="just">
              <a:lnSpc>
                <a:spcPts val="2292"/>
              </a:lnSpc>
            </a:pPr>
            <a:r>
              <a:rPr lang="en-US" sz="1723" spc="-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Example</a:t>
            </a:r>
          </a:p>
          <a:p>
            <a:pPr algn="just" marL="372166" indent="-186083" lvl="1">
              <a:lnSpc>
                <a:spcPts val="2292"/>
              </a:lnSpc>
              <a:buFont typeface="Arial"/>
              <a:buChar char="•"/>
            </a:pPr>
            <a:r>
              <a:rPr lang="en-US" sz="1723" spc="-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Predict house price</a:t>
            </a:r>
          </a:p>
          <a:p>
            <a:pPr algn="just" marL="372166" indent="-186083" lvl="1">
              <a:lnSpc>
                <a:spcPts val="2292"/>
              </a:lnSpc>
              <a:buFont typeface="Arial"/>
              <a:buChar char="•"/>
            </a:pPr>
            <a:r>
              <a:rPr lang="en-US" sz="1723" spc="-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</a:t>
            </a:r>
            <a:r>
              <a:rPr lang="en-US" sz="1723" spc="-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edict salary</a:t>
            </a:r>
          </a:p>
          <a:p>
            <a:pPr algn="just">
              <a:lnSpc>
                <a:spcPts val="2292"/>
              </a:lnSpc>
            </a:pPr>
          </a:p>
          <a:p>
            <a:pPr algn="just">
              <a:lnSpc>
                <a:spcPts val="2292"/>
              </a:lnSpc>
            </a:pPr>
            <a:r>
              <a:rPr lang="en-US" sz="1723" spc="-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✔ Output is a number, not a category.</a:t>
            </a:r>
          </a:p>
          <a:p>
            <a:pPr algn="just">
              <a:lnSpc>
                <a:spcPts val="2146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1883236" y="2651270"/>
            <a:ext cx="5376064" cy="3056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69"/>
              </a:lnSpc>
            </a:pPr>
            <a:r>
              <a:rPr lang="en-US" b="true" sz="1706" spc="-47">
                <a:solidFill>
                  <a:srgbClr val="00FFFF"/>
                </a:solidFill>
                <a:latin typeface="Poppins Bold"/>
                <a:ea typeface="Poppins Bold"/>
                <a:cs typeface="Poppins Bold"/>
                <a:sym typeface="Poppins Bold"/>
              </a:rPr>
              <a:t>3. Clustering</a:t>
            </a:r>
          </a:p>
          <a:p>
            <a:pPr algn="just">
              <a:lnSpc>
                <a:spcPts val="2154"/>
              </a:lnSpc>
            </a:pPr>
          </a:p>
          <a:p>
            <a:pPr algn="just">
              <a:lnSpc>
                <a:spcPts val="2154"/>
              </a:lnSpc>
            </a:pPr>
            <a:r>
              <a:rPr lang="en-US" sz="1619" spc="-4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Clustering groups similar objects into clusters without predefined labels.</a:t>
            </a:r>
          </a:p>
          <a:p>
            <a:pPr algn="just">
              <a:lnSpc>
                <a:spcPts val="2154"/>
              </a:lnSpc>
            </a:pPr>
            <a:r>
              <a:rPr lang="en-US" sz="1619" spc="-4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(It is an unsupervised technique.)</a:t>
            </a:r>
          </a:p>
          <a:p>
            <a:pPr algn="just">
              <a:lnSpc>
                <a:spcPts val="2269"/>
              </a:lnSpc>
            </a:pPr>
            <a:r>
              <a:rPr lang="en-US" sz="1706" spc="-4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Example</a:t>
            </a:r>
          </a:p>
          <a:p>
            <a:pPr algn="just" marL="368437" indent="-184218" lvl="1">
              <a:lnSpc>
                <a:spcPts val="2269"/>
              </a:lnSpc>
              <a:buFont typeface="Arial"/>
              <a:buChar char="•"/>
            </a:pPr>
            <a:r>
              <a:rPr lang="en-US" sz="1706" spc="-4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Group customers based on shopping behavior</a:t>
            </a:r>
          </a:p>
          <a:p>
            <a:pPr algn="just">
              <a:lnSpc>
                <a:spcPts val="2269"/>
              </a:lnSpc>
            </a:pPr>
          </a:p>
          <a:p>
            <a:pPr algn="just">
              <a:lnSpc>
                <a:spcPts val="2269"/>
              </a:lnSpc>
            </a:pPr>
            <a:r>
              <a:rPr lang="en-US" sz="1706" spc="-4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✔ Output is a group/cluster.</a:t>
            </a:r>
          </a:p>
          <a:p>
            <a:pPr algn="just">
              <a:lnSpc>
                <a:spcPts val="2269"/>
              </a:lnSpc>
            </a:pPr>
          </a:p>
          <a:p>
            <a:pPr algn="just">
              <a:lnSpc>
                <a:spcPts val="2038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441182" y="5960844"/>
            <a:ext cx="4395618" cy="3325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90"/>
              </a:lnSpc>
            </a:pPr>
            <a:r>
              <a:rPr lang="en-US" b="true" sz="1722" spc="-48">
                <a:solidFill>
                  <a:srgbClr val="00FFFF"/>
                </a:solidFill>
                <a:latin typeface="Poppins Bold"/>
                <a:ea typeface="Poppins Bold"/>
                <a:cs typeface="Poppins Bold"/>
                <a:sym typeface="Poppins Bold"/>
              </a:rPr>
              <a:t>4. Association Rule Mining</a:t>
            </a:r>
          </a:p>
          <a:p>
            <a:pPr algn="just">
              <a:lnSpc>
                <a:spcPts val="2290"/>
              </a:lnSpc>
            </a:pPr>
          </a:p>
          <a:p>
            <a:pPr algn="just">
              <a:lnSpc>
                <a:spcPts val="2170"/>
              </a:lnSpc>
            </a:pPr>
            <a:r>
              <a:rPr lang="en-US" sz="1631" spc="-4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1631" spc="-4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ssociation rule mining finds relationships between items that occur together frequently.</a:t>
            </a:r>
          </a:p>
          <a:p>
            <a:pPr algn="just">
              <a:lnSpc>
                <a:spcPts val="2170"/>
              </a:lnSpc>
            </a:pPr>
          </a:p>
          <a:p>
            <a:pPr algn="just">
              <a:lnSpc>
                <a:spcPts val="2290"/>
              </a:lnSpc>
            </a:pPr>
            <a:r>
              <a:rPr lang="en-US" sz="1722" spc="-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Example</a:t>
            </a:r>
          </a:p>
          <a:p>
            <a:pPr algn="just">
              <a:lnSpc>
                <a:spcPts val="2290"/>
              </a:lnSpc>
            </a:pPr>
            <a:r>
              <a:rPr lang="en-US" sz="1722" spc="-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In shopping:</a:t>
            </a:r>
          </a:p>
          <a:p>
            <a:pPr algn="just" marL="371790" indent="-185895" lvl="1">
              <a:lnSpc>
                <a:spcPts val="2290"/>
              </a:lnSpc>
              <a:buFont typeface="Arial"/>
              <a:buChar char="•"/>
            </a:pPr>
            <a:r>
              <a:rPr lang="en-US" sz="1722" spc="-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Bread → Butter</a:t>
            </a:r>
          </a:p>
          <a:p>
            <a:pPr algn="just">
              <a:lnSpc>
                <a:spcPts val="2290"/>
              </a:lnSpc>
            </a:pPr>
          </a:p>
          <a:p>
            <a:pPr algn="just">
              <a:lnSpc>
                <a:spcPts val="2290"/>
              </a:lnSpc>
            </a:pPr>
            <a:r>
              <a:rPr lang="en-US" sz="1722" spc="-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✔ Used in Market Basket Analysis.</a:t>
            </a:r>
          </a:p>
          <a:p>
            <a:pPr algn="just">
              <a:lnSpc>
                <a:spcPts val="2057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6261431" y="5951319"/>
            <a:ext cx="4703352" cy="309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74"/>
              </a:lnSpc>
            </a:pPr>
            <a:r>
              <a:rPr lang="en-US" b="true" sz="1935" spc="-54">
                <a:solidFill>
                  <a:srgbClr val="00FFFF"/>
                </a:solidFill>
                <a:latin typeface="Poppins Bold"/>
                <a:ea typeface="Poppins Bold"/>
                <a:cs typeface="Poppins Bold"/>
                <a:sym typeface="Poppins Bold"/>
              </a:rPr>
              <a:t>5. Outlier / Anomaly Detection</a:t>
            </a:r>
          </a:p>
          <a:p>
            <a:pPr algn="just">
              <a:lnSpc>
                <a:spcPts val="2439"/>
              </a:lnSpc>
            </a:pPr>
          </a:p>
          <a:p>
            <a:pPr algn="just">
              <a:lnSpc>
                <a:spcPts val="2439"/>
              </a:lnSpc>
            </a:pPr>
            <a:r>
              <a:rPr lang="en-US" sz="1833" spc="-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Outlier detection identifies data points that are very different from the normal pattern.</a:t>
            </a:r>
          </a:p>
          <a:p>
            <a:pPr algn="just">
              <a:lnSpc>
                <a:spcPts val="2439"/>
              </a:lnSpc>
            </a:pPr>
            <a:r>
              <a:rPr lang="en-US" sz="1833" spc="-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Example</a:t>
            </a:r>
          </a:p>
          <a:p>
            <a:pPr algn="just" marL="395949" indent="-197975" lvl="1">
              <a:lnSpc>
                <a:spcPts val="2439"/>
              </a:lnSpc>
              <a:buFont typeface="Arial"/>
              <a:buChar char="•"/>
            </a:pPr>
            <a:r>
              <a:rPr lang="en-US" sz="1833" spc="-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Fraud transaction in bank</a:t>
            </a:r>
          </a:p>
          <a:p>
            <a:pPr algn="just" marL="395949" indent="-197975" lvl="1">
              <a:lnSpc>
                <a:spcPts val="2439"/>
              </a:lnSpc>
              <a:buFont typeface="Arial"/>
              <a:buChar char="•"/>
            </a:pPr>
            <a:r>
              <a:rPr lang="en-US" sz="1833" spc="-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Unusual login attempt</a:t>
            </a:r>
          </a:p>
          <a:p>
            <a:pPr algn="just">
              <a:lnSpc>
                <a:spcPts val="2439"/>
              </a:lnSpc>
            </a:pPr>
          </a:p>
          <a:p>
            <a:pPr algn="just">
              <a:lnSpc>
                <a:spcPts val="2439"/>
              </a:lnSpc>
            </a:pPr>
            <a:r>
              <a:rPr lang="en-US" sz="1833" spc="-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✔ Helps in security and risk analysis</a:t>
            </a:r>
            <a:r>
              <a:rPr lang="en-US" b="true" sz="1833" spc="-51">
                <a:solidFill>
                  <a:srgbClr val="00FFFF"/>
                </a:soli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</a:p>
          <a:p>
            <a:pPr algn="just">
              <a:lnSpc>
                <a:spcPts val="2312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1873711" y="5798919"/>
            <a:ext cx="5310001" cy="3351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70"/>
              </a:lnSpc>
            </a:pPr>
            <a:r>
              <a:rPr lang="en-US" b="true" sz="1857" spc="-52">
                <a:solidFill>
                  <a:srgbClr val="00FFFF"/>
                </a:solidFill>
                <a:latin typeface="Poppins Bold"/>
                <a:ea typeface="Poppins Bold"/>
                <a:cs typeface="Poppins Bold"/>
                <a:sym typeface="Poppins Bold"/>
              </a:rPr>
              <a:t>6.Prediction</a:t>
            </a:r>
          </a:p>
          <a:p>
            <a:pPr algn="just">
              <a:lnSpc>
                <a:spcPts val="2470"/>
              </a:lnSpc>
            </a:pPr>
          </a:p>
          <a:p>
            <a:pPr algn="just">
              <a:lnSpc>
                <a:spcPts val="2470"/>
              </a:lnSpc>
            </a:pPr>
            <a:r>
              <a:rPr lang="en-US" sz="1857" spc="-5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Prediction means forecasting future outcomes based on past data.</a:t>
            </a:r>
          </a:p>
          <a:p>
            <a:pPr algn="just">
              <a:lnSpc>
                <a:spcPts val="2470"/>
              </a:lnSpc>
            </a:pPr>
            <a:r>
              <a:rPr lang="en-US" sz="1857" spc="-5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1857" spc="-5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xample</a:t>
            </a:r>
          </a:p>
          <a:p>
            <a:pPr algn="just" marL="401053" indent="-200526" lvl="1">
              <a:lnSpc>
                <a:spcPts val="2470"/>
              </a:lnSpc>
              <a:buFont typeface="Arial"/>
              <a:buChar char="•"/>
            </a:pPr>
            <a:r>
              <a:rPr lang="en-US" sz="1857" spc="-5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Predict stock price</a:t>
            </a:r>
          </a:p>
          <a:p>
            <a:pPr algn="just" marL="401053" indent="-200526" lvl="1">
              <a:lnSpc>
                <a:spcPts val="2470"/>
              </a:lnSpc>
              <a:buFont typeface="Arial"/>
              <a:buChar char="•"/>
            </a:pPr>
            <a:r>
              <a:rPr lang="en-US" sz="1857" spc="-5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Predict rainfall</a:t>
            </a:r>
          </a:p>
          <a:p>
            <a:pPr algn="just">
              <a:lnSpc>
                <a:spcPts val="2470"/>
              </a:lnSpc>
            </a:pPr>
          </a:p>
          <a:p>
            <a:pPr algn="just">
              <a:lnSpc>
                <a:spcPts val="2470"/>
              </a:lnSpc>
            </a:pPr>
            <a:r>
              <a:rPr lang="en-US" sz="1857" spc="-5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✔ It can be done using classification or regression models.</a:t>
            </a:r>
          </a:p>
          <a:p>
            <a:pPr algn="just">
              <a:lnSpc>
                <a:spcPts val="221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640">
                <a:alpha val="100000"/>
              </a:srgbClr>
            </a:gs>
            <a:gs pos="100000">
              <a:srgbClr val="02007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683" y="9272587"/>
            <a:ext cx="16230600" cy="1905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781417" y="6053901"/>
            <a:ext cx="4009181" cy="2826473"/>
          </a:xfrm>
          <a:custGeom>
            <a:avLst/>
            <a:gdLst/>
            <a:ahLst/>
            <a:cxnLst/>
            <a:rect r="r" b="b" t="t" l="l"/>
            <a:pathLst>
              <a:path h="2826473" w="4009181">
                <a:moveTo>
                  <a:pt x="0" y="0"/>
                </a:moveTo>
                <a:lnTo>
                  <a:pt x="4009181" y="0"/>
                </a:lnTo>
                <a:lnTo>
                  <a:pt x="4009181" y="2826473"/>
                </a:lnTo>
                <a:lnTo>
                  <a:pt x="0" y="28264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498097" y="5671213"/>
            <a:ext cx="3738981" cy="3470555"/>
          </a:xfrm>
          <a:custGeom>
            <a:avLst/>
            <a:gdLst/>
            <a:ahLst/>
            <a:cxnLst/>
            <a:rect r="r" b="b" t="t" l="l"/>
            <a:pathLst>
              <a:path h="3470555" w="3738981">
                <a:moveTo>
                  <a:pt x="0" y="0"/>
                </a:moveTo>
                <a:lnTo>
                  <a:pt x="3738981" y="0"/>
                </a:lnTo>
                <a:lnTo>
                  <a:pt x="3738981" y="3470555"/>
                </a:lnTo>
                <a:lnTo>
                  <a:pt x="0" y="34705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89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58498" y="5671213"/>
            <a:ext cx="3706263" cy="3209161"/>
          </a:xfrm>
          <a:custGeom>
            <a:avLst/>
            <a:gdLst/>
            <a:ahLst/>
            <a:cxnLst/>
            <a:rect r="r" b="b" t="t" l="l"/>
            <a:pathLst>
              <a:path h="3209161" w="3706263">
                <a:moveTo>
                  <a:pt x="0" y="0"/>
                </a:moveTo>
                <a:lnTo>
                  <a:pt x="3706263" y="0"/>
                </a:lnTo>
                <a:lnTo>
                  <a:pt x="3706263" y="3209161"/>
                </a:lnTo>
                <a:lnTo>
                  <a:pt x="0" y="32091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218" t="-2378" r="0" b="-2378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51795" y="801230"/>
            <a:ext cx="9963709" cy="68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89"/>
              </a:lnSpc>
            </a:pPr>
            <a:r>
              <a:rPr lang="en-US" sz="5365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DATA VISUALIZATION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70178" y="1713925"/>
            <a:ext cx="15889122" cy="3173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06110" indent="-203055" lvl="1">
              <a:lnSpc>
                <a:spcPts val="2501"/>
              </a:lnSpc>
              <a:buFont typeface="Arial"/>
              <a:buChar char="•"/>
            </a:pPr>
            <a:r>
              <a:rPr lang="en-US" b="true" sz="1881" spc="-5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Data Visualization is the gr</a:t>
            </a:r>
            <a:r>
              <a:rPr lang="en-US" b="true" sz="1881" spc="-5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aphical representation of data using charts, graphs, and plots so that users can easily understand information and patterns.</a:t>
            </a:r>
          </a:p>
          <a:p>
            <a:pPr algn="just">
              <a:lnSpc>
                <a:spcPts val="2501"/>
              </a:lnSpc>
            </a:pPr>
          </a:p>
          <a:p>
            <a:pPr algn="just" marL="406110" indent="-203055" lvl="1">
              <a:lnSpc>
                <a:spcPts val="2501"/>
              </a:lnSpc>
              <a:buFont typeface="Arial"/>
              <a:buChar char="•"/>
            </a:pPr>
            <a:r>
              <a:rPr lang="en-US" b="true" sz="1881" spc="-5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Common Types of Data Visualization</a:t>
            </a:r>
          </a:p>
          <a:p>
            <a:pPr algn="just">
              <a:lnSpc>
                <a:spcPts val="2501"/>
              </a:lnSpc>
            </a:pPr>
          </a:p>
          <a:p>
            <a:pPr algn="just">
              <a:lnSpc>
                <a:spcPts val="2501"/>
              </a:lnSpc>
            </a:pPr>
          </a:p>
          <a:p>
            <a:pPr algn="just">
              <a:lnSpc>
                <a:spcPts val="2501"/>
              </a:lnSpc>
            </a:pPr>
          </a:p>
          <a:p>
            <a:pPr algn="just">
              <a:lnSpc>
                <a:spcPts val="2501"/>
              </a:lnSpc>
            </a:pPr>
            <a:r>
              <a:rPr lang="en-US" b="true" sz="1881" spc="-5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  <a:p>
            <a:pPr algn="just">
              <a:lnSpc>
                <a:spcPts val="2501"/>
              </a:lnSpc>
            </a:pPr>
          </a:p>
          <a:p>
            <a:pPr algn="just">
              <a:lnSpc>
                <a:spcPts val="2501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758498" y="3444343"/>
            <a:ext cx="4110096" cy="190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4"/>
              </a:lnSpc>
            </a:pPr>
            <a:r>
              <a:rPr lang="en-US" sz="1950" spc="-54" b="true">
                <a:solidFill>
                  <a:srgbClr val="00FFFF"/>
                </a:solidFill>
                <a:latin typeface="Garet Bold"/>
                <a:ea typeface="Garet Bold"/>
                <a:cs typeface="Garet Bold"/>
                <a:sym typeface="Garet Bold"/>
              </a:rPr>
              <a:t>1. Bar Chart</a:t>
            </a:r>
          </a:p>
          <a:p>
            <a:pPr algn="l">
              <a:lnSpc>
                <a:spcPts val="2594"/>
              </a:lnSpc>
            </a:pPr>
          </a:p>
          <a:p>
            <a:pPr algn="l">
              <a:lnSpc>
                <a:spcPts val="2594"/>
              </a:lnSpc>
              <a:spcBef>
                <a:spcPct val="0"/>
              </a:spcBef>
            </a:pPr>
            <a:r>
              <a:rPr lang="en-US" sz="1950" spc="-5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Used f</a:t>
            </a:r>
            <a:r>
              <a:rPr lang="en-US" sz="1950" spc="-5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or comparing categories.</a:t>
            </a:r>
          </a:p>
          <a:p>
            <a:pPr algn="l">
              <a:lnSpc>
                <a:spcPts val="2594"/>
              </a:lnSpc>
              <a:spcBef>
                <a:spcPct val="0"/>
              </a:spcBef>
            </a:pPr>
            <a:r>
              <a:rPr lang="en-US" sz="1950" spc="-5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Example:-Sales of different products.</a:t>
            </a:r>
          </a:p>
          <a:p>
            <a:pPr algn="ctr">
              <a:lnSpc>
                <a:spcPts val="2328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259691" y="3444343"/>
            <a:ext cx="4110096" cy="2226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4"/>
              </a:lnSpc>
            </a:pPr>
            <a:r>
              <a:rPr lang="en-US" sz="1950" spc="-54" b="true">
                <a:solidFill>
                  <a:srgbClr val="00FFFF"/>
                </a:solidFill>
                <a:latin typeface="Garet Bold"/>
                <a:ea typeface="Garet Bold"/>
                <a:cs typeface="Garet Bold"/>
                <a:sym typeface="Garet Bold"/>
              </a:rPr>
              <a:t>2. Pie Chart</a:t>
            </a:r>
          </a:p>
          <a:p>
            <a:pPr algn="l">
              <a:lnSpc>
                <a:spcPts val="2594"/>
              </a:lnSpc>
            </a:pPr>
          </a:p>
          <a:p>
            <a:pPr algn="l">
              <a:lnSpc>
                <a:spcPts val="2594"/>
              </a:lnSpc>
              <a:spcBef>
                <a:spcPct val="0"/>
              </a:spcBef>
            </a:pPr>
            <a:r>
              <a:rPr lang="en-US" sz="1950" spc="-5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Used t</a:t>
            </a:r>
            <a:r>
              <a:rPr lang="en-US" sz="1950" spc="-5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o show percentage distribution.</a:t>
            </a:r>
          </a:p>
          <a:p>
            <a:pPr algn="l">
              <a:lnSpc>
                <a:spcPts val="2594"/>
              </a:lnSpc>
              <a:spcBef>
                <a:spcPct val="0"/>
              </a:spcBef>
            </a:pPr>
            <a:r>
              <a:rPr lang="en-US" sz="1950" spc="-5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Example:-Market share of companies.</a:t>
            </a:r>
          </a:p>
          <a:p>
            <a:pPr algn="ctr">
              <a:lnSpc>
                <a:spcPts val="2328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2312539" y="3305340"/>
            <a:ext cx="4110096" cy="2226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4"/>
              </a:lnSpc>
            </a:pPr>
            <a:r>
              <a:rPr lang="en-US" sz="1950" spc="-54" b="true">
                <a:solidFill>
                  <a:srgbClr val="00FFFF"/>
                </a:solidFill>
                <a:latin typeface="Garet Bold"/>
                <a:ea typeface="Garet Bold"/>
                <a:cs typeface="Garet Bold"/>
                <a:sym typeface="Garet Bold"/>
              </a:rPr>
              <a:t>3. Histogram</a:t>
            </a:r>
          </a:p>
          <a:p>
            <a:pPr algn="l">
              <a:lnSpc>
                <a:spcPts val="2594"/>
              </a:lnSpc>
            </a:pPr>
          </a:p>
          <a:p>
            <a:pPr algn="l">
              <a:lnSpc>
                <a:spcPts val="2594"/>
              </a:lnSpc>
              <a:spcBef>
                <a:spcPct val="0"/>
              </a:spcBef>
            </a:pPr>
            <a:r>
              <a:rPr lang="en-US" sz="1950" spc="-5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Used t</a:t>
            </a:r>
            <a:r>
              <a:rPr lang="en-US" sz="1950" spc="-5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o show frequency distribution of numerical data.</a:t>
            </a:r>
          </a:p>
          <a:p>
            <a:pPr algn="l">
              <a:lnSpc>
                <a:spcPts val="2594"/>
              </a:lnSpc>
              <a:spcBef>
                <a:spcPct val="0"/>
              </a:spcBef>
            </a:pPr>
            <a:r>
              <a:rPr lang="en-US" sz="1950" spc="-5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Example:</a:t>
            </a:r>
          </a:p>
          <a:p>
            <a:pPr algn="l">
              <a:lnSpc>
                <a:spcPts val="2594"/>
              </a:lnSpc>
              <a:spcBef>
                <a:spcPct val="0"/>
              </a:spcBef>
            </a:pPr>
            <a:r>
              <a:rPr lang="en-US" sz="1950" spc="-5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Marks distribution of students.</a:t>
            </a:r>
          </a:p>
          <a:p>
            <a:pPr algn="ctr">
              <a:lnSpc>
                <a:spcPts val="232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20070">
                    <a:alpha val="67000"/>
                  </a:srgbClr>
                </a:gs>
                <a:gs pos="100000">
                  <a:srgbClr val="000640">
                    <a:alpha val="67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1028683" y="9272587"/>
            <a:ext cx="16230600" cy="1905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4653562" y="372065"/>
            <a:ext cx="9577096" cy="57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2"/>
              </a:lnSpc>
            </a:pPr>
            <a:r>
              <a:rPr lang="en-US" sz="4443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DATA PREPROCESSING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1493" y="2310270"/>
            <a:ext cx="5521407" cy="2678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61"/>
              </a:lnSpc>
            </a:pPr>
            <a:r>
              <a:rPr lang="en-US" b="true" sz="2151" spc="-60">
                <a:solidFill>
                  <a:srgbClr val="00FFFF"/>
                </a:solidFill>
                <a:latin typeface="Poppins Bold"/>
                <a:ea typeface="Poppins Bold"/>
                <a:cs typeface="Poppins Bold"/>
                <a:sym typeface="Poppins Bold"/>
              </a:rPr>
              <a:t>1. Data Cleaning</a:t>
            </a:r>
          </a:p>
          <a:p>
            <a:pPr algn="just">
              <a:lnSpc>
                <a:spcPts val="2612"/>
              </a:lnSpc>
            </a:pPr>
          </a:p>
          <a:p>
            <a:pPr algn="just">
              <a:lnSpc>
                <a:spcPts val="2612"/>
              </a:lnSpc>
            </a:pPr>
            <a:r>
              <a:rPr lang="en-US" sz="1964" spc="-5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Removes errors and improves quality of data.</a:t>
            </a:r>
          </a:p>
          <a:p>
            <a:pPr algn="just" marL="424167" indent="-212084" lvl="1">
              <a:lnSpc>
                <a:spcPts val="2612"/>
              </a:lnSpc>
              <a:buFont typeface="Arial"/>
              <a:buChar char="•"/>
            </a:pPr>
            <a:r>
              <a:rPr lang="en-US" sz="1964" spc="-5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Handling missing values</a:t>
            </a:r>
          </a:p>
          <a:p>
            <a:pPr algn="just" marL="424167" indent="-212084" lvl="1">
              <a:lnSpc>
                <a:spcPts val="2612"/>
              </a:lnSpc>
              <a:buFont typeface="Arial"/>
              <a:buChar char="•"/>
            </a:pPr>
            <a:r>
              <a:rPr lang="en-US" sz="1964" spc="-5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Removing duplicates</a:t>
            </a:r>
          </a:p>
          <a:p>
            <a:pPr algn="just" marL="424167" indent="-212084" lvl="1">
              <a:lnSpc>
                <a:spcPts val="2612"/>
              </a:lnSpc>
              <a:buFont typeface="Arial"/>
              <a:buChar char="•"/>
            </a:pPr>
            <a:r>
              <a:rPr lang="en-US" sz="1964" spc="-5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Noise removal (incorrect data)</a:t>
            </a:r>
          </a:p>
          <a:p>
            <a:pPr algn="just" marL="424167" indent="-212084" lvl="1">
              <a:lnSpc>
                <a:spcPts val="2612"/>
              </a:lnSpc>
              <a:buFont typeface="Arial"/>
              <a:buChar char="•"/>
            </a:pPr>
            <a:r>
              <a:rPr lang="en-US" sz="1964" spc="-5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Correcting inconsistent values</a:t>
            </a:r>
          </a:p>
          <a:p>
            <a:pPr algn="ctr">
              <a:lnSpc>
                <a:spcPts val="2612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683" y="1177262"/>
            <a:ext cx="9686303" cy="710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8"/>
              </a:lnSpc>
              <a:spcBef>
                <a:spcPct val="0"/>
              </a:spcBef>
            </a:pPr>
            <a:r>
              <a:rPr lang="en-US" sz="2027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Prep</a:t>
            </a:r>
            <a:r>
              <a:rPr lang="en-US" sz="2027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rocessing is the process of converting raw, incomplete, and noisy data into a clean and usable format for data mining and analysis.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98570" y="2310270"/>
            <a:ext cx="5325849" cy="2500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41"/>
              </a:lnSpc>
            </a:pPr>
            <a:r>
              <a:rPr lang="en-US" b="true" sz="1986" spc="-55">
                <a:solidFill>
                  <a:srgbClr val="00FFFF"/>
                </a:solidFill>
                <a:latin typeface="Poppins Bold"/>
                <a:ea typeface="Poppins Bold"/>
                <a:cs typeface="Poppins Bold"/>
                <a:sym typeface="Poppins Bold"/>
              </a:rPr>
              <a:t>2. Data Integration</a:t>
            </a:r>
          </a:p>
          <a:p>
            <a:pPr algn="just">
              <a:lnSpc>
                <a:spcPts val="2641"/>
              </a:lnSpc>
            </a:pPr>
          </a:p>
          <a:p>
            <a:pPr algn="just">
              <a:lnSpc>
                <a:spcPts val="2411"/>
              </a:lnSpc>
            </a:pPr>
            <a:r>
              <a:rPr lang="en-US" sz="1813" spc="-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Combines data from multiple sources into one dataset.</a:t>
            </a:r>
          </a:p>
          <a:p>
            <a:pPr algn="just" marL="391498" indent="-195749" lvl="1">
              <a:lnSpc>
                <a:spcPts val="2411"/>
              </a:lnSpc>
              <a:buFont typeface="Arial"/>
              <a:buChar char="•"/>
            </a:pPr>
            <a:r>
              <a:rPr lang="en-US" sz="1813" spc="-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Merge databases/files</a:t>
            </a:r>
          </a:p>
          <a:p>
            <a:pPr algn="just" marL="391498" indent="-195749" lvl="1">
              <a:lnSpc>
                <a:spcPts val="2411"/>
              </a:lnSpc>
              <a:buFont typeface="Arial"/>
              <a:buChar char="•"/>
            </a:pPr>
            <a:r>
              <a:rPr lang="en-US" sz="1813" spc="-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Remove redundant data</a:t>
            </a:r>
          </a:p>
          <a:p>
            <a:pPr algn="just" marL="391498" indent="-195749" lvl="1">
              <a:lnSpc>
                <a:spcPts val="2411"/>
              </a:lnSpc>
              <a:buFont typeface="Arial"/>
              <a:buChar char="•"/>
            </a:pPr>
            <a:r>
              <a:rPr lang="en-US" sz="1813" spc="-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</a:t>
            </a:r>
            <a:r>
              <a:rPr lang="en-US" sz="1813" spc="-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olve data conflicts</a:t>
            </a:r>
          </a:p>
          <a:p>
            <a:pPr algn="ctr">
              <a:lnSpc>
                <a:spcPts val="2411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2719720" y="2441170"/>
            <a:ext cx="5207861" cy="2124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99"/>
              </a:lnSpc>
            </a:pPr>
            <a:r>
              <a:rPr lang="en-US" b="true" sz="2029" spc="-56">
                <a:solidFill>
                  <a:srgbClr val="00FFFF"/>
                </a:solidFill>
                <a:latin typeface="Poppins Bold"/>
                <a:ea typeface="Poppins Bold"/>
                <a:cs typeface="Poppins Bold"/>
                <a:sym typeface="Poppins Bold"/>
              </a:rPr>
              <a:t>3. Data Transformation</a:t>
            </a:r>
          </a:p>
          <a:p>
            <a:pPr algn="just">
              <a:lnSpc>
                <a:spcPts val="2347"/>
              </a:lnSpc>
            </a:pPr>
          </a:p>
          <a:p>
            <a:pPr algn="just">
              <a:lnSpc>
                <a:spcPts val="2347"/>
              </a:lnSpc>
            </a:pPr>
            <a:r>
              <a:rPr lang="en-US" sz="1764" spc="-4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Converts data into a suitable format for mining.</a:t>
            </a:r>
          </a:p>
          <a:p>
            <a:pPr algn="just" marL="381029" indent="-190514" lvl="1">
              <a:lnSpc>
                <a:spcPts val="2347"/>
              </a:lnSpc>
              <a:buFont typeface="Arial"/>
              <a:buChar char="•"/>
            </a:pPr>
            <a:r>
              <a:rPr lang="en-US" sz="1764" spc="-4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Normalization (scaling values)</a:t>
            </a:r>
          </a:p>
          <a:p>
            <a:pPr algn="just" marL="381029" indent="-190514" lvl="1">
              <a:lnSpc>
                <a:spcPts val="2347"/>
              </a:lnSpc>
              <a:buFont typeface="Arial"/>
              <a:buChar char="•"/>
            </a:pPr>
            <a:r>
              <a:rPr lang="en-US" sz="1764" spc="-4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Aggregation (summarizing data)</a:t>
            </a:r>
          </a:p>
          <a:p>
            <a:pPr algn="just" marL="381029" indent="-190514" lvl="1">
              <a:lnSpc>
                <a:spcPts val="2347"/>
              </a:lnSpc>
              <a:buFont typeface="Arial"/>
              <a:buChar char="•"/>
            </a:pPr>
            <a:r>
              <a:rPr lang="en-US" sz="1764" spc="-4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Enc</a:t>
            </a:r>
            <a:r>
              <a:rPr lang="en-US" sz="1764" spc="-4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oding categorical values</a:t>
            </a:r>
          </a:p>
          <a:p>
            <a:pPr algn="just">
              <a:lnSpc>
                <a:spcPts val="2464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3150110" y="5772045"/>
            <a:ext cx="5207861" cy="2168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99"/>
              </a:lnSpc>
            </a:pPr>
            <a:r>
              <a:rPr lang="en-US" b="true" sz="2029" spc="-56">
                <a:solidFill>
                  <a:srgbClr val="00FFFF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       4. Data Discretization</a:t>
            </a:r>
          </a:p>
          <a:p>
            <a:pPr algn="just">
              <a:lnSpc>
                <a:spcPts val="2433"/>
              </a:lnSpc>
            </a:pPr>
          </a:p>
          <a:p>
            <a:pPr algn="just">
              <a:lnSpc>
                <a:spcPts val="2433"/>
              </a:lnSpc>
            </a:pPr>
            <a:r>
              <a:rPr lang="en-US" sz="1829" spc="-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Converts continuous data into categories/ranges.</a:t>
            </a:r>
          </a:p>
          <a:p>
            <a:pPr algn="just">
              <a:lnSpc>
                <a:spcPts val="2433"/>
              </a:lnSpc>
            </a:pPr>
            <a:r>
              <a:rPr lang="en-US" sz="1829" spc="-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Example:</a:t>
            </a:r>
          </a:p>
          <a:p>
            <a:pPr algn="just">
              <a:lnSpc>
                <a:spcPts val="2433"/>
              </a:lnSpc>
            </a:pPr>
            <a:r>
              <a:rPr lang="en-US" sz="1829" spc="-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29" spc="-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Age → (0–18), (19–35), (36–60)</a:t>
            </a:r>
          </a:p>
          <a:p>
            <a:pPr algn="just">
              <a:lnSpc>
                <a:spcPts val="2464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9842512" y="5762520"/>
            <a:ext cx="4998363" cy="2722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23"/>
              </a:lnSpc>
            </a:pPr>
            <a:r>
              <a:rPr lang="en-US" b="true" sz="2047" spc="-57">
                <a:solidFill>
                  <a:srgbClr val="00FFFF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              5. Data Reduction</a:t>
            </a:r>
          </a:p>
          <a:p>
            <a:pPr algn="just">
              <a:lnSpc>
                <a:spcPts val="2590"/>
              </a:lnSpc>
            </a:pPr>
          </a:p>
          <a:p>
            <a:pPr algn="just">
              <a:lnSpc>
                <a:spcPts val="2335"/>
              </a:lnSpc>
            </a:pPr>
            <a:r>
              <a:rPr lang="en-US" sz="1755" spc="-4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Reduces size of dataset while keeping important information.</a:t>
            </a:r>
          </a:p>
          <a:p>
            <a:pPr algn="just" marL="379113" indent="-189557" lvl="1">
              <a:lnSpc>
                <a:spcPts val="2335"/>
              </a:lnSpc>
              <a:buFont typeface="Arial"/>
              <a:buChar char="•"/>
            </a:pPr>
            <a:r>
              <a:rPr lang="en-US" sz="1755" spc="-4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Dimensi</a:t>
            </a:r>
            <a:r>
              <a:rPr lang="en-US" sz="1755" spc="-4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onality reduction</a:t>
            </a:r>
          </a:p>
          <a:p>
            <a:pPr algn="just" marL="379113" indent="-189557" lvl="1">
              <a:lnSpc>
                <a:spcPts val="2335"/>
              </a:lnSpc>
              <a:buFont typeface="Arial"/>
              <a:buChar char="•"/>
            </a:pPr>
            <a:r>
              <a:rPr lang="en-US" sz="1755" spc="-4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Attribute subset selection (feature selection)</a:t>
            </a:r>
          </a:p>
          <a:p>
            <a:pPr algn="just" marL="379113" indent="-189557" lvl="1">
              <a:lnSpc>
                <a:spcPts val="2335"/>
              </a:lnSpc>
              <a:buFont typeface="Arial"/>
              <a:buChar char="•"/>
            </a:pPr>
            <a:r>
              <a:rPr lang="en-US" sz="1755" spc="-4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Compression and sampling</a:t>
            </a:r>
          </a:p>
          <a:p>
            <a:pPr algn="just">
              <a:lnSpc>
                <a:spcPts val="211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640">
                <a:alpha val="100000"/>
              </a:srgbClr>
            </a:gs>
            <a:gs pos="100000">
              <a:srgbClr val="02007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683" y="9272587"/>
            <a:ext cx="16230600" cy="1905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845514" y="326563"/>
            <a:ext cx="15880987" cy="1311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89"/>
              </a:lnSpc>
            </a:pPr>
            <a:r>
              <a:rPr lang="en-US" sz="5365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ATTRIBUTE SUBSET SELECTION, SAMPLING &amp; CLUSTERING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56581" y="2204860"/>
            <a:ext cx="4493623" cy="6151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5"/>
              </a:lnSpc>
            </a:pPr>
            <a:r>
              <a:rPr lang="en-US" sz="2041" spc="-57" b="true">
                <a:solidFill>
                  <a:srgbClr val="00FFFF"/>
                </a:solidFill>
                <a:latin typeface="Garet Bold"/>
                <a:ea typeface="Garet Bold"/>
                <a:cs typeface="Garet Bold"/>
                <a:sym typeface="Garet Bold"/>
              </a:rPr>
              <a:t>1. Attribute Subset Selection (Feature Selection)</a:t>
            </a:r>
          </a:p>
          <a:p>
            <a:pPr algn="l">
              <a:lnSpc>
                <a:spcPts val="2449"/>
              </a:lnSpc>
            </a:pP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sz="1841" spc="-5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Attribute Sub</a:t>
            </a:r>
            <a:r>
              <a:rPr lang="en-US" sz="1841" spc="-5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set Selecti</a:t>
            </a:r>
            <a:r>
              <a:rPr lang="en-US" sz="1841" spc="-5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on is the process of selecting the most important attributes (features) from a dataset and removing unnecessary or irrelevant ones.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sz="1841" spc="-5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Example: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sz="1841" spc="-5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For predicting student performance, useful attributes may be:</a:t>
            </a:r>
          </a:p>
          <a:p>
            <a:pPr algn="l" marL="397570" indent="-198785" lvl="1">
              <a:lnSpc>
                <a:spcPts val="2449"/>
              </a:lnSpc>
              <a:spcBef>
                <a:spcPct val="0"/>
              </a:spcBef>
              <a:buFont typeface="Arial"/>
              <a:buChar char="•"/>
            </a:pPr>
            <a:r>
              <a:rPr lang="en-US" sz="1841" spc="-5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attendance</a:t>
            </a:r>
          </a:p>
          <a:p>
            <a:pPr algn="l" marL="397570" indent="-198785" lvl="1">
              <a:lnSpc>
                <a:spcPts val="2449"/>
              </a:lnSpc>
              <a:spcBef>
                <a:spcPct val="0"/>
              </a:spcBef>
              <a:buFont typeface="Arial"/>
              <a:buChar char="•"/>
            </a:pPr>
            <a:r>
              <a:rPr lang="en-US" sz="1841" spc="-5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internal marks</a:t>
            </a:r>
          </a:p>
          <a:p>
            <a:pPr algn="l" marL="397570" indent="-198785" lvl="1">
              <a:lnSpc>
                <a:spcPts val="2449"/>
              </a:lnSpc>
              <a:spcBef>
                <a:spcPct val="0"/>
              </a:spcBef>
              <a:buFont typeface="Arial"/>
              <a:buChar char="•"/>
            </a:pPr>
            <a:r>
              <a:rPr lang="en-US" sz="1841" spc="-5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assignment score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sz="1841" spc="-5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Unnecessary attributes may be:</a:t>
            </a:r>
          </a:p>
          <a:p>
            <a:pPr algn="l" marL="397570" indent="-198785" lvl="1">
              <a:lnSpc>
                <a:spcPts val="2449"/>
              </a:lnSpc>
              <a:spcBef>
                <a:spcPct val="0"/>
              </a:spcBef>
              <a:buFont typeface="Arial"/>
              <a:buChar char="•"/>
            </a:pPr>
            <a:r>
              <a:rPr lang="en-US" sz="1841" spc="-5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student ID</a:t>
            </a:r>
          </a:p>
          <a:p>
            <a:pPr algn="l" marL="397570" indent="-198785" lvl="1">
              <a:lnSpc>
                <a:spcPts val="2449"/>
              </a:lnSpc>
              <a:spcBef>
                <a:spcPct val="0"/>
              </a:spcBef>
              <a:buFont typeface="Arial"/>
              <a:buChar char="•"/>
            </a:pPr>
            <a:r>
              <a:rPr lang="en-US" sz="1841" spc="-5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phone number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</a:p>
          <a:p>
            <a:pPr algn="ctr">
              <a:lnSpc>
                <a:spcPts val="2198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6781417" y="2223910"/>
            <a:ext cx="4110096" cy="345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0"/>
              </a:lnSpc>
              <a:spcBef>
                <a:spcPct val="0"/>
              </a:spcBef>
            </a:pPr>
            <a:r>
              <a:rPr lang="en-US" b="true" sz="2150" spc="-60">
                <a:solidFill>
                  <a:srgbClr val="00FFFF"/>
                </a:solidFill>
                <a:latin typeface="Garet Bold"/>
                <a:ea typeface="Garet Bold"/>
                <a:cs typeface="Garet Bold"/>
                <a:sym typeface="Garet Bold"/>
              </a:rPr>
              <a:t>2.Sampling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16701" y="2370999"/>
            <a:ext cx="5442599" cy="5838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6"/>
              </a:lnSpc>
            </a:pPr>
            <a:r>
              <a:rPr lang="en-US" sz="1967" spc="-55" b="true">
                <a:solidFill>
                  <a:srgbClr val="00FFFF"/>
                </a:solidFill>
                <a:latin typeface="Garet Bold"/>
                <a:ea typeface="Garet Bold"/>
                <a:cs typeface="Garet Bold"/>
                <a:sym typeface="Garet Bold"/>
              </a:rPr>
              <a:t>3. Clustering</a:t>
            </a:r>
          </a:p>
          <a:p>
            <a:pPr algn="l">
              <a:lnSpc>
                <a:spcPts val="2616"/>
              </a:lnSpc>
            </a:pPr>
          </a:p>
          <a:p>
            <a:pPr algn="l">
              <a:lnSpc>
                <a:spcPts val="2616"/>
              </a:lnSpc>
              <a:spcBef>
                <a:spcPct val="0"/>
              </a:spcBef>
            </a:pPr>
            <a:r>
              <a:rPr lang="en-US" sz="1967" spc="-5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Clu</a:t>
            </a:r>
            <a:r>
              <a:rPr lang="en-US" sz="1967" spc="-5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stering is</a:t>
            </a:r>
            <a:r>
              <a:rPr lang="en-US" sz="1967" spc="-5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an unsupervised technique used to group similar data points into clusters.</a:t>
            </a:r>
          </a:p>
          <a:p>
            <a:pPr algn="l">
              <a:lnSpc>
                <a:spcPts val="2616"/>
              </a:lnSpc>
              <a:spcBef>
                <a:spcPct val="0"/>
              </a:spcBef>
            </a:pPr>
          </a:p>
          <a:p>
            <a:pPr algn="l">
              <a:lnSpc>
                <a:spcPts val="2616"/>
              </a:lnSpc>
              <a:spcBef>
                <a:spcPct val="0"/>
              </a:spcBef>
            </a:pPr>
            <a:r>
              <a:rPr lang="en-US" b="true" sz="1967" spc="-5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Important:</a:t>
            </a:r>
          </a:p>
          <a:p>
            <a:pPr algn="l">
              <a:lnSpc>
                <a:spcPts val="2616"/>
              </a:lnSpc>
              <a:spcBef>
                <a:spcPct val="0"/>
              </a:spcBef>
            </a:pPr>
            <a:r>
              <a:rPr lang="en-US" sz="1967" spc="-5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No predefined labels/classes are given.</a:t>
            </a:r>
          </a:p>
          <a:p>
            <a:pPr algn="l">
              <a:lnSpc>
                <a:spcPts val="2616"/>
              </a:lnSpc>
              <a:spcBef>
                <a:spcPct val="0"/>
              </a:spcBef>
            </a:pPr>
          </a:p>
          <a:p>
            <a:pPr algn="l">
              <a:lnSpc>
                <a:spcPts val="2616"/>
              </a:lnSpc>
              <a:spcBef>
                <a:spcPct val="0"/>
              </a:spcBef>
            </a:pPr>
            <a:r>
              <a:rPr lang="en-US" sz="1967" spc="-5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Example of Clustering</a:t>
            </a:r>
          </a:p>
          <a:p>
            <a:pPr algn="l">
              <a:lnSpc>
                <a:spcPts val="2616"/>
              </a:lnSpc>
              <a:spcBef>
                <a:spcPct val="0"/>
              </a:spcBef>
            </a:pPr>
            <a:r>
              <a:rPr lang="en-US" sz="1967" spc="-5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 company divides customers into:</a:t>
            </a:r>
          </a:p>
          <a:p>
            <a:pPr algn="l" marL="424709" indent="-212355" lvl="1">
              <a:lnSpc>
                <a:spcPts val="2616"/>
              </a:lnSpc>
              <a:spcBef>
                <a:spcPct val="0"/>
              </a:spcBef>
              <a:buFont typeface="Arial"/>
              <a:buChar char="•"/>
            </a:pPr>
            <a:r>
              <a:rPr lang="en-US" sz="1967" spc="-5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Cluster 1: High Income, High Spending</a:t>
            </a:r>
          </a:p>
          <a:p>
            <a:pPr algn="l" marL="424709" indent="-212355" lvl="1">
              <a:lnSpc>
                <a:spcPts val="2616"/>
              </a:lnSpc>
              <a:spcBef>
                <a:spcPct val="0"/>
              </a:spcBef>
              <a:buFont typeface="Arial"/>
              <a:buChar char="•"/>
            </a:pPr>
            <a:r>
              <a:rPr lang="en-US" sz="1967" spc="-5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Cluster 2: Medium Income, Medium Spending</a:t>
            </a:r>
          </a:p>
          <a:p>
            <a:pPr algn="l" marL="424709" indent="-212355" lvl="1">
              <a:lnSpc>
                <a:spcPts val="2616"/>
              </a:lnSpc>
              <a:spcBef>
                <a:spcPct val="0"/>
              </a:spcBef>
              <a:buFont typeface="Arial"/>
              <a:buChar char="•"/>
            </a:pPr>
            <a:r>
              <a:rPr lang="en-US" sz="1967" spc="-5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Cluster 3: Low Income, Low Spending</a:t>
            </a:r>
          </a:p>
          <a:p>
            <a:pPr algn="l">
              <a:lnSpc>
                <a:spcPts val="2616"/>
              </a:lnSpc>
              <a:spcBef>
                <a:spcPct val="0"/>
              </a:spcBef>
            </a:pPr>
            <a:r>
              <a:rPr lang="en-US" sz="1967" spc="-5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This helps in better marketing strategies.</a:t>
            </a:r>
          </a:p>
          <a:p>
            <a:pPr algn="l">
              <a:lnSpc>
                <a:spcPts val="2616"/>
              </a:lnSpc>
              <a:spcBef>
                <a:spcPct val="0"/>
              </a:spcBef>
            </a:pPr>
          </a:p>
          <a:p>
            <a:pPr algn="ctr">
              <a:lnSpc>
                <a:spcPts val="2348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6589653" y="2586073"/>
            <a:ext cx="4493623" cy="6381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9"/>
              </a:lnSpc>
            </a:pP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sz="1841" spc="-5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Samp</a:t>
            </a:r>
            <a:r>
              <a:rPr lang="en-US" sz="1841" spc="-5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li</a:t>
            </a:r>
            <a:r>
              <a:rPr lang="en-US" sz="1841" spc="-5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ng is the process of selecting a small representative subset of data from a large dataset for analysis.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sz="1841" spc="-5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Example: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sz="1841" spc="-5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Instead of analyzing 10 lakh customer records, we analyze a sample of 10,000 records.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b="true" sz="1841" spc="-5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Types of Sampling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sz="1841" spc="-5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Random Sampling</a:t>
            </a:r>
          </a:p>
          <a:p>
            <a:pPr algn="l" marL="397570" indent="-198785" lvl="1">
              <a:lnSpc>
                <a:spcPts val="2449"/>
              </a:lnSpc>
              <a:spcBef>
                <a:spcPct val="0"/>
              </a:spcBef>
              <a:buFont typeface="Arial"/>
              <a:buChar char="•"/>
            </a:pPr>
            <a:r>
              <a:rPr lang="en-US" sz="1841" spc="-5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Data selected randomly</a:t>
            </a:r>
          </a:p>
          <a:p>
            <a:pPr algn="l" marL="397570" indent="-198785" lvl="1">
              <a:lnSpc>
                <a:spcPts val="2449"/>
              </a:lnSpc>
              <a:spcBef>
                <a:spcPct val="0"/>
              </a:spcBef>
              <a:buFont typeface="Arial"/>
              <a:buChar char="•"/>
            </a:pPr>
            <a:r>
              <a:rPr lang="en-US" sz="1841" spc="-5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Each record has equal chance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  <a:r>
              <a:rPr lang="en-US" sz="1841" spc="-5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Stratified Sampling</a:t>
            </a:r>
          </a:p>
          <a:p>
            <a:pPr algn="l" marL="397570" indent="-198785" lvl="1">
              <a:lnSpc>
                <a:spcPts val="2449"/>
              </a:lnSpc>
              <a:spcBef>
                <a:spcPct val="0"/>
              </a:spcBef>
              <a:buFont typeface="Arial"/>
              <a:buChar char="•"/>
            </a:pPr>
            <a:r>
              <a:rPr lang="en-US" sz="1841" spc="-5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Data divided into groups (strata)</a:t>
            </a:r>
          </a:p>
          <a:p>
            <a:pPr algn="l" marL="397570" indent="-198785" lvl="1">
              <a:lnSpc>
                <a:spcPts val="2449"/>
              </a:lnSpc>
              <a:spcBef>
                <a:spcPct val="0"/>
              </a:spcBef>
              <a:buFont typeface="Arial"/>
              <a:buChar char="•"/>
            </a:pPr>
            <a:r>
              <a:rPr lang="en-US" sz="1841" spc="-5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Samples taken from each group</a:t>
            </a:r>
          </a:p>
          <a:p>
            <a:pPr algn="l">
              <a:lnSpc>
                <a:spcPts val="2449"/>
              </a:lnSpc>
              <a:spcBef>
                <a:spcPct val="0"/>
              </a:spcBef>
            </a:pPr>
          </a:p>
          <a:p>
            <a:pPr algn="l">
              <a:lnSpc>
                <a:spcPts val="2449"/>
              </a:lnSpc>
              <a:spcBef>
                <a:spcPct val="0"/>
              </a:spcBef>
            </a:pPr>
          </a:p>
          <a:p>
            <a:pPr algn="ctr">
              <a:lnSpc>
                <a:spcPts val="219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096" t="0" r="-14096" b="-5183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19FF">
                <a:alpha val="2078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630386" y="4001235"/>
            <a:ext cx="13132036" cy="11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70"/>
              </a:lnSpc>
            </a:pPr>
            <a:r>
              <a:rPr lang="en-US" sz="9000">
                <a:solidFill>
                  <a:srgbClr val="FFFFFF"/>
                </a:solidFill>
                <a:latin typeface="Zen Dots"/>
                <a:ea typeface="Zen Dots"/>
                <a:cs typeface="Zen Dots"/>
                <a:sym typeface="Zen Dots"/>
              </a:rPr>
              <a:t>THANK YOU </a:t>
            </a:r>
          </a:p>
        </p:txBody>
      </p:sp>
      <p:sp>
        <p:nvSpPr>
          <p:cNvPr name="AutoShape 7" id="7"/>
          <p:cNvSpPr/>
          <p:nvPr/>
        </p:nvSpPr>
        <p:spPr>
          <a:xfrm>
            <a:off x="1028683" y="8732575"/>
            <a:ext cx="16230600" cy="1905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5762422" y="735562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020F8D"/>
                </a:solidFill>
                <a:latin typeface="Poppins Bold"/>
                <a:ea typeface="Poppins Bold"/>
                <a:cs typeface="Poppins Bold"/>
                <a:sym typeface="Poppins Bold"/>
              </a:rPr>
              <a:t>Page 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28202" y="9061735"/>
            <a:ext cx="1274721" cy="45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DAHBX-JNFBg</dc:identifier>
  <dcterms:modified xsi:type="dcterms:W3CDTF">2011-08-01T06:04:30Z</dcterms:modified>
  <cp:revision>1</cp:revision>
  <dc:title>Unit 1  Data Mining  Presentation</dc:title>
</cp:coreProperties>
</file>