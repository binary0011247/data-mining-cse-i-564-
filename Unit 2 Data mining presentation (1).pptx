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 Bold" charset="1" panose="00000800000000000000"/>
      <p:regular r:id="rId16"/>
    </p:embeddedFont>
    <p:embeddedFont>
      <p:font typeface="Poppins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01894" y="5366001"/>
            <a:ext cx="6189792" cy="3285919"/>
            <a:chOff x="0" y="0"/>
            <a:chExt cx="1630233" cy="8654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30233" cy="865427"/>
            </a:xfrm>
            <a:custGeom>
              <a:avLst/>
              <a:gdLst/>
              <a:ahLst/>
              <a:cxnLst/>
              <a:rect r="r" b="b" t="t" l="l"/>
              <a:pathLst>
                <a:path h="865427" w="1630233">
                  <a:moveTo>
                    <a:pt x="125076" y="0"/>
                  </a:moveTo>
                  <a:lnTo>
                    <a:pt x="1505158" y="0"/>
                  </a:lnTo>
                  <a:cubicBezTo>
                    <a:pt x="1538330" y="0"/>
                    <a:pt x="1570143" y="13178"/>
                    <a:pt x="1593600" y="36634"/>
                  </a:cubicBezTo>
                  <a:cubicBezTo>
                    <a:pt x="1617056" y="60090"/>
                    <a:pt x="1630233" y="91903"/>
                    <a:pt x="1630233" y="125076"/>
                  </a:cubicBezTo>
                  <a:lnTo>
                    <a:pt x="1630233" y="740352"/>
                  </a:lnTo>
                  <a:cubicBezTo>
                    <a:pt x="1630233" y="809429"/>
                    <a:pt x="1574235" y="865427"/>
                    <a:pt x="1505158" y="865427"/>
                  </a:cubicBezTo>
                  <a:lnTo>
                    <a:pt x="125076" y="865427"/>
                  </a:lnTo>
                  <a:cubicBezTo>
                    <a:pt x="91903" y="865427"/>
                    <a:pt x="60090" y="852250"/>
                    <a:pt x="36634" y="828794"/>
                  </a:cubicBezTo>
                  <a:cubicBezTo>
                    <a:pt x="13178" y="805337"/>
                    <a:pt x="0" y="773524"/>
                    <a:pt x="0" y="740352"/>
                  </a:cubicBezTo>
                  <a:lnTo>
                    <a:pt x="0" y="125076"/>
                  </a:lnTo>
                  <a:cubicBezTo>
                    <a:pt x="0" y="55998"/>
                    <a:pt x="55998" y="0"/>
                    <a:pt x="125076" y="0"/>
                  </a:cubicBezTo>
                  <a:close/>
                </a:path>
              </a:pathLst>
            </a:custGeom>
            <a:ln w="8572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1630233" cy="9511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79"/>
                </a:lnSpc>
              </a:pPr>
              <a:r>
                <a:rPr lang="en-US" b="true" sz="3199" spc="-8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Presented to:</a:t>
              </a:r>
            </a:p>
            <a:p>
              <a:pPr algn="ctr">
                <a:lnSpc>
                  <a:spcPts val="4479"/>
                </a:lnSpc>
              </a:pPr>
              <a:r>
                <a:rPr lang="en-US" b="true" sz="3199" spc="-8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Dr.Anirudha Gaikawad</a:t>
              </a:r>
            </a:p>
            <a:p>
              <a:pPr algn="ctr">
                <a:lnSpc>
                  <a:spcPts val="4479"/>
                </a:lnSpc>
              </a:pPr>
              <a:r>
                <a:rPr lang="en-US" b="true" sz="3199" spc="-8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Assistant Professor</a:t>
              </a:r>
            </a:p>
            <a:p>
              <a:pPr algn="ctr">
                <a:lnSpc>
                  <a:spcPts val="4479"/>
                </a:lnSpc>
              </a:pPr>
              <a:r>
                <a:rPr lang="en-US" b="true" sz="3199" spc="-8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Dept. of CSE</a:t>
              </a:r>
            </a:p>
            <a:p>
              <a:pPr algn="ctr">
                <a:lnSpc>
                  <a:spcPts val="44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584997" y="1973243"/>
            <a:ext cx="14228836" cy="1260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00"/>
              </a:lnSpc>
              <a:spcBef>
                <a:spcPct val="0"/>
              </a:spcBef>
            </a:pPr>
            <a:r>
              <a:rPr lang="en-US" sz="7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Associ</a:t>
            </a:r>
            <a:r>
              <a:rPr lang="en-US" b="true" sz="7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ations and Correlations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127331" y="519270"/>
            <a:ext cx="2691471" cy="1150134"/>
          </a:xfrm>
          <a:custGeom>
            <a:avLst/>
            <a:gdLst/>
            <a:ahLst/>
            <a:cxnLst/>
            <a:rect r="r" b="b" t="t" l="l"/>
            <a:pathLst>
              <a:path h="1150134" w="2691471">
                <a:moveTo>
                  <a:pt x="0" y="0"/>
                </a:moveTo>
                <a:lnTo>
                  <a:pt x="2691472" y="0"/>
                </a:lnTo>
                <a:lnTo>
                  <a:pt x="2691472" y="1150135"/>
                </a:lnTo>
                <a:lnTo>
                  <a:pt x="0" y="11501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1069508" y="5366001"/>
            <a:ext cx="6189792" cy="3285919"/>
            <a:chOff x="0" y="0"/>
            <a:chExt cx="1630233" cy="8654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30233" cy="865427"/>
            </a:xfrm>
            <a:custGeom>
              <a:avLst/>
              <a:gdLst/>
              <a:ahLst/>
              <a:cxnLst/>
              <a:rect r="r" b="b" t="t" l="l"/>
              <a:pathLst>
                <a:path h="865427" w="1630233">
                  <a:moveTo>
                    <a:pt x="125076" y="0"/>
                  </a:moveTo>
                  <a:lnTo>
                    <a:pt x="1505158" y="0"/>
                  </a:lnTo>
                  <a:cubicBezTo>
                    <a:pt x="1538330" y="0"/>
                    <a:pt x="1570143" y="13178"/>
                    <a:pt x="1593600" y="36634"/>
                  </a:cubicBezTo>
                  <a:cubicBezTo>
                    <a:pt x="1617056" y="60090"/>
                    <a:pt x="1630233" y="91903"/>
                    <a:pt x="1630233" y="125076"/>
                  </a:cubicBezTo>
                  <a:lnTo>
                    <a:pt x="1630233" y="740352"/>
                  </a:lnTo>
                  <a:cubicBezTo>
                    <a:pt x="1630233" y="809429"/>
                    <a:pt x="1574235" y="865427"/>
                    <a:pt x="1505158" y="865427"/>
                  </a:cubicBezTo>
                  <a:lnTo>
                    <a:pt x="125076" y="865427"/>
                  </a:lnTo>
                  <a:cubicBezTo>
                    <a:pt x="91903" y="865427"/>
                    <a:pt x="60090" y="852250"/>
                    <a:pt x="36634" y="828794"/>
                  </a:cubicBezTo>
                  <a:cubicBezTo>
                    <a:pt x="13178" y="805337"/>
                    <a:pt x="0" y="773524"/>
                    <a:pt x="0" y="740352"/>
                  </a:cubicBezTo>
                  <a:lnTo>
                    <a:pt x="0" y="125076"/>
                  </a:lnTo>
                  <a:cubicBezTo>
                    <a:pt x="0" y="55998"/>
                    <a:pt x="55998" y="0"/>
                    <a:pt x="125076" y="0"/>
                  </a:cubicBezTo>
                  <a:close/>
                </a:path>
              </a:pathLst>
            </a:custGeom>
            <a:ln w="8572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1630233" cy="9511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79"/>
                </a:lnSpc>
              </a:pPr>
              <a:r>
                <a:rPr lang="en-US" b="true" sz="3199" spc="-8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Presented by:</a:t>
              </a:r>
            </a:p>
            <a:p>
              <a:pPr algn="ctr">
                <a:lnSpc>
                  <a:spcPts val="4479"/>
                </a:lnSpc>
              </a:pPr>
              <a:r>
                <a:rPr lang="en-US" b="true" sz="3199" spc="-8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Shubh Gupta</a:t>
              </a:r>
            </a:p>
            <a:p>
              <a:pPr algn="ctr">
                <a:lnSpc>
                  <a:spcPts val="4479"/>
                </a:lnSpc>
              </a:pPr>
              <a:r>
                <a:rPr lang="en-US" b="true" sz="3199" spc="-8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RA2311003030564</a:t>
              </a:r>
            </a:p>
            <a:p>
              <a:pPr algn="ctr">
                <a:lnSpc>
                  <a:spcPts val="4479"/>
                </a:lnSpc>
              </a:pPr>
              <a:r>
                <a:rPr lang="en-US" b="true" sz="3199" spc="-8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CSE-Core I</a:t>
              </a:r>
            </a:p>
            <a:p>
              <a:pPr algn="ctr">
                <a:lnSpc>
                  <a:spcPts val="447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8255873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41051" y="2983557"/>
            <a:ext cx="5453619" cy="5453619"/>
          </a:xfrm>
          <a:custGeom>
            <a:avLst/>
            <a:gdLst/>
            <a:ahLst/>
            <a:cxnLst/>
            <a:rect r="r" b="b" t="t" l="l"/>
            <a:pathLst>
              <a:path h="5453619" w="5453619">
                <a:moveTo>
                  <a:pt x="0" y="0"/>
                </a:moveTo>
                <a:lnTo>
                  <a:pt x="5453619" y="0"/>
                </a:lnTo>
                <a:lnTo>
                  <a:pt x="5453619" y="5453620"/>
                </a:lnTo>
                <a:lnTo>
                  <a:pt x="0" y="5453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968961" y="739027"/>
            <a:ext cx="10566872" cy="184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59"/>
              </a:lnSpc>
            </a:pPr>
            <a:r>
              <a:rPr lang="en-US" b="true" sz="6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rke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 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Ba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 Analys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68961" y="3098831"/>
            <a:ext cx="9202646" cy="569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Market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Basket Analysis is a technique used to discover which items are frequently purchased together.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Purpose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Improve product placement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Increase sales through combos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Recommend products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Example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If customers buy: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Bread, they often buy Butter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Mobile, they often buy Earphones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692728" y="2446901"/>
            <a:ext cx="5581401" cy="4891337"/>
          </a:xfrm>
          <a:custGeom>
            <a:avLst/>
            <a:gdLst/>
            <a:ahLst/>
            <a:cxnLst/>
            <a:rect r="r" b="b" t="t" l="l"/>
            <a:pathLst>
              <a:path h="4891337" w="5581401">
                <a:moveTo>
                  <a:pt x="0" y="0"/>
                </a:moveTo>
                <a:lnTo>
                  <a:pt x="5581401" y="0"/>
                </a:lnTo>
                <a:lnTo>
                  <a:pt x="5581401" y="4891337"/>
                </a:lnTo>
                <a:lnTo>
                  <a:pt x="0" y="48913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593971"/>
            <a:ext cx="14567719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70"/>
              </a:lnSpc>
            </a:pPr>
            <a:r>
              <a:rPr lang="en-US" b="true" sz="65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Associ</a:t>
            </a:r>
            <a:r>
              <a:rPr lang="en-US" b="true" sz="65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ation Rule Mining Basi</a:t>
            </a:r>
            <a:r>
              <a:rPr lang="en-US" b="true" sz="65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  <a:r>
              <a:rPr lang="en-US" b="true" sz="65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2168" y="1806575"/>
            <a:ext cx="9584216" cy="745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association rule shows a relationship of the form: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X → Y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Where: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X = antecedent (if part)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 = consequent (then part)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Key Measures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Support(X → Y)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= Probability that X and Y occur together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Indicates frequency.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Confidence(X → Y)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= Probability of buying Y when X is bought, 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Indicates reliability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Lift(X → Y)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= Confidence / Support(Y). Measures strength of association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398466" y="8255873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8255873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635792" y="1917867"/>
            <a:ext cx="9457589" cy="8817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7"/>
              </a:lnSpc>
              <a:spcBef>
                <a:spcPct val="0"/>
              </a:spcBef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Frequent itemsets are groups of items that appear together in transactions frequently above a minimum support threshold.</a:t>
            </a:r>
          </a:p>
          <a:p>
            <a:pPr algn="just">
              <a:lnSpc>
                <a:spcPts val="2797"/>
              </a:lnSpc>
              <a:spcBef>
                <a:spcPct val="0"/>
              </a:spcBef>
            </a:pPr>
          </a:p>
          <a:p>
            <a:pPr algn="just">
              <a:lnSpc>
                <a:spcPts val="2797"/>
              </a:lnSpc>
              <a:spcBef>
                <a:spcPct val="0"/>
              </a:spcBef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Types</a:t>
            </a:r>
          </a:p>
          <a:p>
            <a:pPr algn="just" marL="431467" indent="-215733" lvl="1">
              <a:lnSpc>
                <a:spcPts val="2797"/>
              </a:lnSpc>
              <a:buFont typeface="Arial"/>
              <a:buChar char="•"/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1-itemset (Milk)</a:t>
            </a:r>
          </a:p>
          <a:p>
            <a:pPr algn="just" marL="431467" indent="-215733" lvl="1">
              <a:lnSpc>
                <a:spcPts val="2797"/>
              </a:lnSpc>
              <a:buFont typeface="Arial"/>
              <a:buChar char="•"/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2-itemset (Milk, Bread)</a:t>
            </a:r>
          </a:p>
          <a:p>
            <a:pPr algn="just" marL="431467" indent="-215733" lvl="1">
              <a:lnSpc>
                <a:spcPts val="2797"/>
              </a:lnSpc>
              <a:buFont typeface="Arial"/>
              <a:buChar char="•"/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3-itemset (Milk, Bread, Butter)</a:t>
            </a:r>
          </a:p>
          <a:p>
            <a:pPr algn="just">
              <a:lnSpc>
                <a:spcPts val="2797"/>
              </a:lnSpc>
            </a:pPr>
          </a:p>
          <a:p>
            <a:pPr algn="just">
              <a:lnSpc>
                <a:spcPts val="2797"/>
              </a:lnSpc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Example</a:t>
            </a:r>
          </a:p>
          <a:p>
            <a:pPr algn="just">
              <a:lnSpc>
                <a:spcPts val="2797"/>
              </a:lnSpc>
            </a:pPr>
          </a:p>
          <a:p>
            <a:pPr algn="just">
              <a:lnSpc>
                <a:spcPts val="2797"/>
              </a:lnSpc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Transactions:</a:t>
            </a:r>
          </a:p>
          <a:p>
            <a:pPr algn="just" marL="431467" indent="-215733" lvl="1">
              <a:lnSpc>
                <a:spcPts val="2797"/>
              </a:lnSpc>
              <a:buFont typeface="Arial"/>
              <a:buChar char="•"/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T1: {A, B, C}</a:t>
            </a:r>
          </a:p>
          <a:p>
            <a:pPr algn="just" marL="431467" indent="-215733" lvl="1">
              <a:lnSpc>
                <a:spcPts val="2797"/>
              </a:lnSpc>
              <a:buFont typeface="Arial"/>
              <a:buChar char="•"/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T2: {A, B}</a:t>
            </a:r>
          </a:p>
          <a:p>
            <a:pPr algn="just" marL="431467" indent="-215733" lvl="1">
              <a:lnSpc>
                <a:spcPts val="2797"/>
              </a:lnSpc>
              <a:buFont typeface="Arial"/>
              <a:buChar char="•"/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T3: {A, C}</a:t>
            </a:r>
          </a:p>
          <a:p>
            <a:pPr algn="just" marL="431467" indent="-215733" lvl="1">
              <a:lnSpc>
                <a:spcPts val="2797"/>
              </a:lnSpc>
              <a:buFont typeface="Arial"/>
              <a:buChar char="•"/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T4: {A, B, C}</a:t>
            </a:r>
          </a:p>
          <a:p>
            <a:pPr algn="just">
              <a:lnSpc>
                <a:spcPts val="2797"/>
              </a:lnSpc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If min support = 50%</a:t>
            </a:r>
          </a:p>
          <a:p>
            <a:pPr algn="just">
              <a:lnSpc>
                <a:spcPts val="2797"/>
              </a:lnSpc>
            </a:pPr>
          </a:p>
          <a:p>
            <a:pPr algn="just">
              <a:lnSpc>
                <a:spcPts val="2797"/>
              </a:lnSpc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Frequent itemsets:</a:t>
            </a:r>
          </a:p>
          <a:p>
            <a:pPr algn="just" marL="431467" indent="-215733" lvl="1">
              <a:lnSpc>
                <a:spcPts val="2797"/>
              </a:lnSpc>
              <a:buFont typeface="Arial"/>
              <a:buChar char="•"/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A} appears 4 t</a:t>
            </a: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imes ✔</a:t>
            </a:r>
          </a:p>
          <a:p>
            <a:pPr algn="just" marL="431467" indent="-215733" lvl="1">
              <a:lnSpc>
                <a:spcPts val="2797"/>
              </a:lnSpc>
              <a:buFont typeface="Arial"/>
              <a:buChar char="•"/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{B} appears 3 times ✔</a:t>
            </a:r>
          </a:p>
          <a:p>
            <a:pPr algn="just" marL="431467" indent="-215733" lvl="1">
              <a:lnSpc>
                <a:spcPts val="2797"/>
              </a:lnSpc>
              <a:buFont typeface="Arial"/>
              <a:buChar char="•"/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{A,B} appears 3 times ✔</a:t>
            </a:r>
          </a:p>
          <a:p>
            <a:pPr algn="just" marL="431467" indent="-215733" lvl="1">
              <a:lnSpc>
                <a:spcPts val="2797"/>
              </a:lnSpc>
              <a:buFont typeface="Arial"/>
              <a:buChar char="•"/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{A,B,C} appears 2 times ✔</a:t>
            </a:r>
          </a:p>
          <a:p>
            <a:pPr algn="just">
              <a:lnSpc>
                <a:spcPts val="2797"/>
              </a:lnSpc>
            </a:pPr>
          </a:p>
          <a:p>
            <a:pPr algn="just">
              <a:lnSpc>
                <a:spcPts val="2797"/>
              </a:lnSpc>
              <a:spcBef>
                <a:spcPct val="0"/>
              </a:spcBef>
            </a:pPr>
          </a:p>
          <a:p>
            <a:pPr algn="just">
              <a:lnSpc>
                <a:spcPts val="2797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32543" y="2558845"/>
            <a:ext cx="6536418" cy="5068378"/>
          </a:xfrm>
          <a:custGeom>
            <a:avLst/>
            <a:gdLst/>
            <a:ahLst/>
            <a:cxnLst/>
            <a:rect r="r" b="b" t="t" l="l"/>
            <a:pathLst>
              <a:path h="5068378" w="6536418">
                <a:moveTo>
                  <a:pt x="0" y="0"/>
                </a:moveTo>
                <a:lnTo>
                  <a:pt x="6536418" y="0"/>
                </a:lnTo>
                <a:lnTo>
                  <a:pt x="6536418" y="5068378"/>
                </a:lnTo>
                <a:lnTo>
                  <a:pt x="0" y="50683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689" t="0" r="-698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968961" y="739027"/>
            <a:ext cx="10566872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59"/>
              </a:lnSpc>
            </a:pPr>
            <a:r>
              <a:rPr lang="en-US" b="true" sz="6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Frequent Itemsets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8255873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59117" y="3241267"/>
            <a:ext cx="3978685" cy="3427310"/>
          </a:xfrm>
          <a:custGeom>
            <a:avLst/>
            <a:gdLst/>
            <a:ahLst/>
            <a:cxnLst/>
            <a:rect r="r" b="b" t="t" l="l"/>
            <a:pathLst>
              <a:path h="3427310" w="3978685">
                <a:moveTo>
                  <a:pt x="0" y="0"/>
                </a:moveTo>
                <a:lnTo>
                  <a:pt x="3978685" y="0"/>
                </a:lnTo>
                <a:lnTo>
                  <a:pt x="3978685" y="3427311"/>
                </a:lnTo>
                <a:lnTo>
                  <a:pt x="0" y="3427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35810" t="-28937" r="0" b="-7935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968961" y="739027"/>
            <a:ext cx="10566872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59"/>
              </a:lnSpc>
            </a:pPr>
            <a:r>
              <a:rPr lang="en-US" b="true" sz="6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iori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Algori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68961" y="2011137"/>
            <a:ext cx="9202646" cy="701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Apriori is a popular algorithm used to find frequent itemsets and generate association rules.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Steps of Apriori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Find frequent 1-itemsets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Generate candidate 2-itemsets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Remove those below minimum support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Repeat for 3-itemsets, 4-itemsets, etc.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Generate association rules from frequent itemsets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Advantages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Simple and easy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Efficient pruning using Apriori property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368484" y="8255873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3030943"/>
            <a:ext cx="7233153" cy="4677262"/>
          </a:xfrm>
          <a:custGeom>
            <a:avLst/>
            <a:gdLst/>
            <a:ahLst/>
            <a:cxnLst/>
            <a:rect r="r" b="b" t="t" l="l"/>
            <a:pathLst>
              <a:path h="4677262" w="7233153">
                <a:moveTo>
                  <a:pt x="0" y="0"/>
                </a:moveTo>
                <a:lnTo>
                  <a:pt x="7233153" y="0"/>
                </a:lnTo>
                <a:lnTo>
                  <a:pt x="7233153" y="4677261"/>
                </a:lnTo>
                <a:lnTo>
                  <a:pt x="0" y="46772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8816975"/>
            <a:ext cx="4911986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www.reallygreatsite.com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75207" y="574447"/>
            <a:ext cx="8336609" cy="184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59"/>
              </a:lnSpc>
            </a:pPr>
            <a:r>
              <a:rPr lang="en-US" b="true" sz="6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Mult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il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eve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A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sso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ci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ation Rules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28355" y="2682875"/>
            <a:ext cx="7783461" cy="701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ltilevel association rules are rules generated at different levels of abstraction using concept hierarchy.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Example hierarchy:</a:t>
            </a:r>
          </a:p>
          <a:p>
            <a:pPr algn="just">
              <a:lnSpc>
                <a:spcPts val="3499"/>
              </a:lnSpc>
            </a:pP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Food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  Dairy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           Milk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           Cheese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   Bakery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           Bread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           Cake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494336"/>
            <a:ext cx="14106832" cy="184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59"/>
              </a:lnSpc>
            </a:pPr>
            <a:r>
              <a:rPr lang="en-US" b="true" sz="6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Mul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tidimensional Assoc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iation Rul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478148"/>
            <a:ext cx="15104696" cy="74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5"/>
              </a:lnSpc>
              <a:spcBef>
                <a:spcPct val="0"/>
              </a:spcBef>
            </a:pPr>
            <a:r>
              <a:rPr lang="en-US" sz="19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Mul</a:t>
            </a:r>
            <a:r>
              <a:rPr lang="en-US" sz="19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tidimensional association</a:t>
            </a:r>
            <a:r>
              <a:rPr lang="en-US" sz="19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rul</a:t>
            </a:r>
            <a:r>
              <a:rPr lang="en-US" sz="19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involve more than one attribute/dimension (not jus</a:t>
            </a:r>
            <a:r>
              <a:rPr lang="en-US" sz="19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19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items).</a:t>
            </a:r>
          </a:p>
          <a:p>
            <a:pPr algn="just">
              <a:lnSpc>
                <a:spcPts val="2715"/>
              </a:lnSpc>
              <a:spcBef>
                <a:spcPct val="0"/>
              </a:spcBef>
            </a:pPr>
          </a:p>
          <a:p>
            <a:pPr algn="just">
              <a:lnSpc>
                <a:spcPts val="2715"/>
              </a:lnSpc>
              <a:spcBef>
                <a:spcPct val="0"/>
              </a:spcBef>
            </a:pPr>
            <a:r>
              <a:rPr lang="en-US" sz="19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Dimensions can be:</a:t>
            </a:r>
          </a:p>
          <a:p>
            <a:pPr algn="just" marL="418822" indent="-209411" lvl="1">
              <a:lnSpc>
                <a:spcPts val="2715"/>
              </a:lnSpc>
              <a:spcBef>
                <a:spcPct val="0"/>
              </a:spcBef>
              <a:buFont typeface="Arial"/>
              <a:buChar char="•"/>
            </a:pPr>
            <a:r>
              <a:rPr lang="en-US" sz="19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</a:t>
            </a:r>
            <a:r>
              <a:rPr lang="en-US" sz="19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 group</a:t>
            </a:r>
          </a:p>
          <a:p>
            <a:pPr algn="just" marL="418822" indent="-209411" lvl="1">
              <a:lnSpc>
                <a:spcPts val="2715"/>
              </a:lnSpc>
              <a:spcBef>
                <a:spcPct val="0"/>
              </a:spcBef>
              <a:buFont typeface="Arial"/>
              <a:buChar char="•"/>
            </a:pPr>
            <a:r>
              <a:rPr lang="en-US" sz="19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Location</a:t>
            </a:r>
          </a:p>
          <a:p>
            <a:pPr algn="just" marL="418822" indent="-209411" lvl="1">
              <a:lnSpc>
                <a:spcPts val="2715"/>
              </a:lnSpc>
              <a:spcBef>
                <a:spcPct val="0"/>
              </a:spcBef>
              <a:buFont typeface="Arial"/>
              <a:buChar char="•"/>
            </a:pPr>
            <a:r>
              <a:rPr lang="en-US" sz="19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Gender</a:t>
            </a:r>
          </a:p>
          <a:p>
            <a:pPr algn="just" marL="418822" indent="-209411" lvl="1">
              <a:lnSpc>
                <a:spcPts val="2715"/>
              </a:lnSpc>
              <a:spcBef>
                <a:spcPct val="0"/>
              </a:spcBef>
              <a:buFont typeface="Arial"/>
              <a:buChar char="•"/>
            </a:pPr>
            <a:r>
              <a:rPr lang="en-US" sz="19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Product category</a:t>
            </a:r>
          </a:p>
          <a:p>
            <a:pPr algn="just" marL="418822" indent="-209411" lvl="1">
              <a:lnSpc>
                <a:spcPts val="2715"/>
              </a:lnSpc>
              <a:spcBef>
                <a:spcPct val="0"/>
              </a:spcBef>
              <a:buFont typeface="Arial"/>
              <a:buChar char="•"/>
            </a:pPr>
            <a:r>
              <a:rPr lang="en-US" sz="19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Payment mode</a:t>
            </a:r>
          </a:p>
          <a:p>
            <a:pPr algn="ctr">
              <a:lnSpc>
                <a:spcPts val="3835"/>
              </a:lnSpc>
              <a:spcBef>
                <a:spcPct val="0"/>
              </a:spcBef>
            </a:pPr>
            <a:r>
              <a:rPr lang="en-US" b="true" sz="273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Types of Multidimensional Rules</a:t>
            </a:r>
          </a:p>
          <a:p>
            <a:pPr algn="just">
              <a:lnSpc>
                <a:spcPts val="2715"/>
              </a:lnSpc>
              <a:spcBef>
                <a:spcPct val="0"/>
              </a:spcBef>
            </a:pPr>
          </a:p>
          <a:p>
            <a:pPr algn="just">
              <a:lnSpc>
                <a:spcPts val="2715"/>
              </a:lnSpc>
              <a:spcBef>
                <a:spcPct val="0"/>
              </a:spcBef>
            </a:pPr>
            <a:r>
              <a:rPr lang="en-US" sz="19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b="true" sz="193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Inter-Dimension Rules                                                                                                                                  Hybrid-Dimension Rules</a:t>
            </a:r>
          </a:p>
          <a:p>
            <a:pPr algn="just">
              <a:lnSpc>
                <a:spcPts val="2715"/>
              </a:lnSpc>
              <a:spcBef>
                <a:spcPct val="0"/>
              </a:spcBef>
            </a:pPr>
            <a:r>
              <a:rPr lang="en-US" b="true" sz="193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 </a:t>
            </a:r>
            <a:r>
              <a:rPr lang="en-US" sz="19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Multiple attributes combined:                                                                                               Item + other dimensions:</a:t>
            </a:r>
          </a:p>
          <a:p>
            <a:pPr algn="just">
              <a:lnSpc>
                <a:spcPts val="2715"/>
              </a:lnSpc>
              <a:spcBef>
                <a:spcPct val="0"/>
              </a:spcBef>
            </a:pPr>
            <a:r>
              <a:rPr lang="en-US" sz="19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(Age, City) → Product                                                                                                       (Age=20-30, {Milk}) → {Bread}  </a:t>
            </a:r>
          </a:p>
          <a:p>
            <a:pPr algn="just">
              <a:lnSpc>
                <a:spcPts val="2715"/>
              </a:lnSpc>
              <a:spcBef>
                <a:spcPct val="0"/>
              </a:spcBef>
            </a:pPr>
          </a:p>
          <a:p>
            <a:pPr algn="just">
              <a:lnSpc>
                <a:spcPts val="2995"/>
              </a:lnSpc>
              <a:spcBef>
                <a:spcPct val="0"/>
              </a:spcBef>
            </a:pPr>
            <a:r>
              <a:rPr lang="en-US" b="true" sz="213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Importance</a:t>
            </a:r>
          </a:p>
          <a:p>
            <a:pPr algn="just">
              <a:lnSpc>
                <a:spcPts val="2995"/>
              </a:lnSpc>
              <a:spcBef>
                <a:spcPct val="0"/>
              </a:spcBef>
            </a:pPr>
          </a:p>
          <a:p>
            <a:pPr algn="just" marL="462001" indent="-231001" lvl="1">
              <a:lnSpc>
                <a:spcPts val="2995"/>
              </a:lnSpc>
              <a:buFont typeface="Arial"/>
              <a:buChar char="•"/>
            </a:pPr>
            <a:r>
              <a:rPr lang="en-US" sz="21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Useful in marketing campaigns</a:t>
            </a:r>
          </a:p>
          <a:p>
            <a:pPr algn="just" marL="462001" indent="-231001" lvl="1">
              <a:lnSpc>
                <a:spcPts val="2995"/>
              </a:lnSpc>
              <a:buFont typeface="Arial"/>
              <a:buChar char="•"/>
            </a:pPr>
            <a:r>
              <a:rPr lang="en-US" sz="21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Helps in targeted advertising</a:t>
            </a:r>
          </a:p>
          <a:p>
            <a:pPr algn="just">
              <a:lnSpc>
                <a:spcPts val="2715"/>
              </a:lnSpc>
              <a:spcBef>
                <a:spcPct val="0"/>
              </a:spcBef>
            </a:pPr>
            <a:r>
              <a:rPr lang="en-US" sz="19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        </a:t>
            </a:r>
          </a:p>
          <a:p>
            <a:pPr algn="just">
              <a:lnSpc>
                <a:spcPts val="2715"/>
              </a:lnSpc>
              <a:spcBef>
                <a:spcPct val="0"/>
              </a:spcBef>
            </a:pPr>
          </a:p>
          <a:p>
            <a:pPr algn="just">
              <a:lnSpc>
                <a:spcPts val="271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509782" y="-79944"/>
            <a:ext cx="13803065" cy="216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Correl</a:t>
            </a:r>
            <a:r>
              <a:rPr lang="en-US" b="true" sz="60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ation Anal</a:t>
            </a:r>
            <a:r>
              <a:rPr lang="en-US" b="true" sz="60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ysis in Dat</a:t>
            </a:r>
            <a:r>
              <a:rPr lang="en-US" b="true" sz="60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  <a:r>
              <a:rPr lang="en-US" b="true" sz="60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Mi</a:t>
            </a:r>
            <a:r>
              <a:rPr lang="en-US" b="true" sz="60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ning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302" y="3307468"/>
            <a:ext cx="5093371" cy="5073466"/>
            <a:chOff x="0" y="0"/>
            <a:chExt cx="1341464" cy="13362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41464" cy="1336222"/>
            </a:xfrm>
            <a:custGeom>
              <a:avLst/>
              <a:gdLst/>
              <a:ahLst/>
              <a:cxnLst/>
              <a:rect r="r" b="b" t="t" l="l"/>
              <a:pathLst>
                <a:path h="1336222" w="1341464">
                  <a:moveTo>
                    <a:pt x="77520" y="0"/>
                  </a:moveTo>
                  <a:lnTo>
                    <a:pt x="1263944" y="0"/>
                  </a:lnTo>
                  <a:cubicBezTo>
                    <a:pt x="1306757" y="0"/>
                    <a:pt x="1341464" y="34707"/>
                    <a:pt x="1341464" y="77520"/>
                  </a:cubicBezTo>
                  <a:lnTo>
                    <a:pt x="1341464" y="1258702"/>
                  </a:lnTo>
                  <a:cubicBezTo>
                    <a:pt x="1341464" y="1279261"/>
                    <a:pt x="1333297" y="1298979"/>
                    <a:pt x="1318759" y="1313516"/>
                  </a:cubicBezTo>
                  <a:cubicBezTo>
                    <a:pt x="1304221" y="1328054"/>
                    <a:pt x="1284504" y="1336222"/>
                    <a:pt x="1263944" y="1336222"/>
                  </a:cubicBezTo>
                  <a:lnTo>
                    <a:pt x="77520" y="1336222"/>
                  </a:lnTo>
                  <a:cubicBezTo>
                    <a:pt x="56960" y="1336222"/>
                    <a:pt x="37243" y="1328054"/>
                    <a:pt x="22705" y="1313516"/>
                  </a:cubicBezTo>
                  <a:cubicBezTo>
                    <a:pt x="8167" y="1298979"/>
                    <a:pt x="0" y="1279261"/>
                    <a:pt x="0" y="1258702"/>
                  </a:cubicBezTo>
                  <a:lnTo>
                    <a:pt x="0" y="77520"/>
                  </a:lnTo>
                  <a:cubicBezTo>
                    <a:pt x="0" y="56960"/>
                    <a:pt x="8167" y="37243"/>
                    <a:pt x="22705" y="22705"/>
                  </a:cubicBezTo>
                  <a:cubicBezTo>
                    <a:pt x="37243" y="8167"/>
                    <a:pt x="56960" y="0"/>
                    <a:pt x="77520" y="0"/>
                  </a:cubicBezTo>
                  <a:close/>
                </a:path>
              </a:pathLst>
            </a:custGeom>
            <a:ln w="6667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341464" cy="1402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596297" y="3307468"/>
            <a:ext cx="5093371" cy="5073466"/>
            <a:chOff x="0" y="0"/>
            <a:chExt cx="1341464" cy="13362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41464" cy="1336222"/>
            </a:xfrm>
            <a:custGeom>
              <a:avLst/>
              <a:gdLst/>
              <a:ahLst/>
              <a:cxnLst/>
              <a:rect r="r" b="b" t="t" l="l"/>
              <a:pathLst>
                <a:path h="1336222" w="1341464">
                  <a:moveTo>
                    <a:pt x="77520" y="0"/>
                  </a:moveTo>
                  <a:lnTo>
                    <a:pt x="1263944" y="0"/>
                  </a:lnTo>
                  <a:cubicBezTo>
                    <a:pt x="1306757" y="0"/>
                    <a:pt x="1341464" y="34707"/>
                    <a:pt x="1341464" y="77520"/>
                  </a:cubicBezTo>
                  <a:lnTo>
                    <a:pt x="1341464" y="1258702"/>
                  </a:lnTo>
                  <a:cubicBezTo>
                    <a:pt x="1341464" y="1279261"/>
                    <a:pt x="1333297" y="1298979"/>
                    <a:pt x="1318759" y="1313516"/>
                  </a:cubicBezTo>
                  <a:cubicBezTo>
                    <a:pt x="1304221" y="1328054"/>
                    <a:pt x="1284504" y="1336222"/>
                    <a:pt x="1263944" y="1336222"/>
                  </a:cubicBezTo>
                  <a:lnTo>
                    <a:pt x="77520" y="1336222"/>
                  </a:lnTo>
                  <a:cubicBezTo>
                    <a:pt x="56960" y="1336222"/>
                    <a:pt x="37243" y="1328054"/>
                    <a:pt x="22705" y="1313516"/>
                  </a:cubicBezTo>
                  <a:cubicBezTo>
                    <a:pt x="8167" y="1298979"/>
                    <a:pt x="0" y="1279261"/>
                    <a:pt x="0" y="1258702"/>
                  </a:cubicBezTo>
                  <a:lnTo>
                    <a:pt x="0" y="77520"/>
                  </a:lnTo>
                  <a:cubicBezTo>
                    <a:pt x="0" y="56960"/>
                    <a:pt x="8167" y="37243"/>
                    <a:pt x="22705" y="22705"/>
                  </a:cubicBezTo>
                  <a:cubicBezTo>
                    <a:pt x="37243" y="8167"/>
                    <a:pt x="56960" y="0"/>
                    <a:pt x="77520" y="0"/>
                  </a:cubicBezTo>
                  <a:close/>
                </a:path>
              </a:pathLst>
            </a:custGeom>
            <a:ln w="6667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341464" cy="1402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165111" y="3307468"/>
            <a:ext cx="5093371" cy="5073466"/>
            <a:chOff x="0" y="0"/>
            <a:chExt cx="1341464" cy="133622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41464" cy="1336222"/>
            </a:xfrm>
            <a:custGeom>
              <a:avLst/>
              <a:gdLst/>
              <a:ahLst/>
              <a:cxnLst/>
              <a:rect r="r" b="b" t="t" l="l"/>
              <a:pathLst>
                <a:path h="1336222" w="1341464">
                  <a:moveTo>
                    <a:pt x="77520" y="0"/>
                  </a:moveTo>
                  <a:lnTo>
                    <a:pt x="1263944" y="0"/>
                  </a:lnTo>
                  <a:cubicBezTo>
                    <a:pt x="1306757" y="0"/>
                    <a:pt x="1341464" y="34707"/>
                    <a:pt x="1341464" y="77520"/>
                  </a:cubicBezTo>
                  <a:lnTo>
                    <a:pt x="1341464" y="1258702"/>
                  </a:lnTo>
                  <a:cubicBezTo>
                    <a:pt x="1341464" y="1279261"/>
                    <a:pt x="1333297" y="1298979"/>
                    <a:pt x="1318759" y="1313516"/>
                  </a:cubicBezTo>
                  <a:cubicBezTo>
                    <a:pt x="1304221" y="1328054"/>
                    <a:pt x="1284504" y="1336222"/>
                    <a:pt x="1263944" y="1336222"/>
                  </a:cubicBezTo>
                  <a:lnTo>
                    <a:pt x="77520" y="1336222"/>
                  </a:lnTo>
                  <a:cubicBezTo>
                    <a:pt x="56960" y="1336222"/>
                    <a:pt x="37243" y="1328054"/>
                    <a:pt x="22705" y="1313516"/>
                  </a:cubicBezTo>
                  <a:cubicBezTo>
                    <a:pt x="8167" y="1298979"/>
                    <a:pt x="0" y="1279261"/>
                    <a:pt x="0" y="1258702"/>
                  </a:cubicBezTo>
                  <a:lnTo>
                    <a:pt x="0" y="77520"/>
                  </a:lnTo>
                  <a:cubicBezTo>
                    <a:pt x="0" y="56960"/>
                    <a:pt x="8167" y="37243"/>
                    <a:pt x="22705" y="22705"/>
                  </a:cubicBezTo>
                  <a:cubicBezTo>
                    <a:pt x="37243" y="8167"/>
                    <a:pt x="56960" y="0"/>
                    <a:pt x="77520" y="0"/>
                  </a:cubicBezTo>
                  <a:close/>
                </a:path>
              </a:pathLst>
            </a:custGeom>
            <a:ln w="6667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341464" cy="1402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676517" y="3832758"/>
            <a:ext cx="3796941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Positive Co</a:t>
            </a: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rrelation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04280" y="5133975"/>
            <a:ext cx="4541415" cy="175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If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X increases, Y increases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Example: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Study hours ↑ → Marks ↑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98416" y="3832758"/>
            <a:ext cx="4489134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Negative</a:t>
            </a: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Cor</a:t>
            </a: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relation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72275" y="5133975"/>
            <a:ext cx="4541415" cy="307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If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X increases, Y decreases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Example: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Screen time ↑ → Sleep time ↓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2769348" y="3613683"/>
            <a:ext cx="3884897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Ze</a:t>
            </a: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ro Correlation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41089" y="5133975"/>
            <a:ext cx="4541415" cy="219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 relationship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Example: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Shoe size vs IQ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AutoShape 22" id="22"/>
          <p:cNvSpPr/>
          <p:nvPr/>
        </p:nvSpPr>
        <p:spPr>
          <a:xfrm>
            <a:off x="1028302" y="4804845"/>
            <a:ext cx="5093371" cy="0"/>
          </a:xfrm>
          <a:prstGeom prst="line">
            <a:avLst/>
          </a:prstGeom>
          <a:ln cap="flat" w="66675">
            <a:solidFill>
              <a:srgbClr val="5CA3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6596706" y="4771508"/>
            <a:ext cx="5093371" cy="0"/>
          </a:xfrm>
          <a:prstGeom prst="line">
            <a:avLst/>
          </a:prstGeom>
          <a:ln cap="flat" w="66675">
            <a:solidFill>
              <a:srgbClr val="5CA3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12166327" y="4771508"/>
            <a:ext cx="5093371" cy="0"/>
          </a:xfrm>
          <a:prstGeom prst="line">
            <a:avLst/>
          </a:prstGeom>
          <a:ln cap="flat" w="66675">
            <a:solidFill>
              <a:srgbClr val="5CA3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1028700" y="1079804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60700" y="2271123"/>
            <a:ext cx="5884851" cy="5724355"/>
          </a:xfrm>
          <a:custGeom>
            <a:avLst/>
            <a:gdLst/>
            <a:ahLst/>
            <a:cxnLst/>
            <a:rect r="r" b="b" t="t" l="l"/>
            <a:pathLst>
              <a:path h="5724355" w="5884851">
                <a:moveTo>
                  <a:pt x="0" y="0"/>
                </a:moveTo>
                <a:lnTo>
                  <a:pt x="5884851" y="0"/>
                </a:lnTo>
                <a:lnTo>
                  <a:pt x="5884851" y="5724355"/>
                </a:lnTo>
                <a:lnTo>
                  <a:pt x="0" y="57243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89039" y="2815345"/>
            <a:ext cx="8710097" cy="701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Constr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aint-Based Association Mining is the process of generating association rules only when they satisfy specific user-defined constraints.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 large datasets, association rule mining can produce thousands/millions of rules, many of which are not meaningful.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 constraints help to: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reduce number of rules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Improve efficiency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focus on user requirements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reduce computation time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generate business-relevant rules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41555" y="702177"/>
            <a:ext cx="14530848" cy="184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59"/>
              </a:lnSpc>
            </a:pPr>
            <a:r>
              <a:rPr lang="en-US" b="true" sz="6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Constr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aint-based association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mining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398466" y="1079804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615651" y="3178002"/>
            <a:ext cx="9056698" cy="180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b="true" sz="9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</a:t>
            </a:r>
            <a:r>
              <a:rPr lang="en-US" b="true" sz="9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ank you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670413" y="5384437"/>
            <a:ext cx="6947174" cy="1438812"/>
            <a:chOff x="0" y="0"/>
            <a:chExt cx="1829708" cy="3789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9708" cy="378946"/>
            </a:xfrm>
            <a:custGeom>
              <a:avLst/>
              <a:gdLst/>
              <a:ahLst/>
              <a:cxnLst/>
              <a:rect r="r" b="b" t="t" l="l"/>
              <a:pathLst>
                <a:path h="378946" w="1829708">
                  <a:moveTo>
                    <a:pt x="111440" y="0"/>
                  </a:moveTo>
                  <a:lnTo>
                    <a:pt x="1718269" y="0"/>
                  </a:lnTo>
                  <a:cubicBezTo>
                    <a:pt x="1779815" y="0"/>
                    <a:pt x="1829708" y="49893"/>
                    <a:pt x="1829708" y="111440"/>
                  </a:cubicBezTo>
                  <a:lnTo>
                    <a:pt x="1829708" y="267506"/>
                  </a:lnTo>
                  <a:cubicBezTo>
                    <a:pt x="1829708" y="297062"/>
                    <a:pt x="1817968" y="325407"/>
                    <a:pt x="1797068" y="346306"/>
                  </a:cubicBezTo>
                  <a:cubicBezTo>
                    <a:pt x="1776169" y="367205"/>
                    <a:pt x="1747824" y="378946"/>
                    <a:pt x="1718269" y="378946"/>
                  </a:cubicBezTo>
                  <a:lnTo>
                    <a:pt x="111440" y="378946"/>
                  </a:lnTo>
                  <a:cubicBezTo>
                    <a:pt x="81884" y="378946"/>
                    <a:pt x="53539" y="367205"/>
                    <a:pt x="32640" y="346306"/>
                  </a:cubicBezTo>
                  <a:cubicBezTo>
                    <a:pt x="11741" y="325407"/>
                    <a:pt x="0" y="297062"/>
                    <a:pt x="0" y="267506"/>
                  </a:cubicBezTo>
                  <a:lnTo>
                    <a:pt x="0" y="111440"/>
                  </a:lnTo>
                  <a:cubicBezTo>
                    <a:pt x="0" y="81884"/>
                    <a:pt x="11741" y="53539"/>
                    <a:pt x="32640" y="32640"/>
                  </a:cubicBezTo>
                  <a:cubicBezTo>
                    <a:pt x="53539" y="11741"/>
                    <a:pt x="81884" y="0"/>
                    <a:pt x="111440" y="0"/>
                  </a:cubicBezTo>
                  <a:close/>
                </a:path>
              </a:pathLst>
            </a:custGeom>
            <a:ln w="8572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829708" cy="436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101144" y="5733955"/>
            <a:ext cx="6085713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 yo</a:t>
            </a:r>
            <a:r>
              <a:rPr lang="en-US" sz="3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ur attention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398466" y="8255873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1028700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DAHBaV_mXVg</dc:identifier>
  <dcterms:modified xsi:type="dcterms:W3CDTF">2011-08-01T06:04:30Z</dcterms:modified>
  <cp:revision>1</cp:revision>
  <dc:title>Unit 2 Data mining presentation</dc:title>
</cp:coreProperties>
</file>